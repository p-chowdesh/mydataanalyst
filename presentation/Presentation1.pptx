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60" r:id="rId2"/>
    <p:sldId id="258" r:id="rId3"/>
    <p:sldId id="261" r:id="rId4"/>
    <p:sldId id="262" r:id="rId5"/>
    <p:sldId id="263" r:id="rId6"/>
    <p:sldId id="264" r:id="rId7"/>
    <p:sldId id="266" r:id="rId8"/>
    <p:sldId id="267" r:id="rId9"/>
    <p:sldId id="265" r:id="rId10"/>
    <p:sldId id="268" r:id="rId11"/>
    <p:sldId id="269" r:id="rId12"/>
    <p:sldId id="270" r:id="rId13"/>
    <p:sldId id="271" r:id="rId14"/>
    <p:sldId id="274" r:id="rId15"/>
    <p:sldId id="272" r:id="rId16"/>
    <p:sldId id="273" r:id="rId17"/>
    <p:sldId id="277" r:id="rId18"/>
    <p:sldId id="278" r:id="rId19"/>
    <p:sldId id="279" r:id="rId20"/>
    <p:sldId id="276" r:id="rId21"/>
    <p:sldId id="275"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90" d="100"/>
          <a:sy n="90" d="100"/>
        </p:scale>
        <p:origin x="355"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ABD00B-E7B1-4568-81F3-7D021A5774DA}" type="datetimeFigureOut">
              <a:rPr lang="en-IN" smtClean="0"/>
              <a:t>26-02-2026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AB7901-23AE-445C-88BD-4C378381B3FB}" type="slidenum">
              <a:rPr lang="en-IN" smtClean="0"/>
              <a:t>‹#›</a:t>
            </a:fld>
            <a:endParaRPr lang="en-IN"/>
          </a:p>
        </p:txBody>
      </p:sp>
    </p:spTree>
    <p:extLst>
      <p:ext uri="{BB962C8B-B14F-4D97-AF65-F5344CB8AC3E}">
        <p14:creationId xmlns:p14="http://schemas.microsoft.com/office/powerpoint/2010/main" val="4133727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2AB7901-23AE-445C-88BD-4C378381B3FB}" type="slidenum">
              <a:rPr lang="en-IN" smtClean="0"/>
              <a:t>11</a:t>
            </a:fld>
            <a:endParaRPr lang="en-IN"/>
          </a:p>
        </p:txBody>
      </p:sp>
    </p:spTree>
    <p:extLst>
      <p:ext uri="{BB962C8B-B14F-4D97-AF65-F5344CB8AC3E}">
        <p14:creationId xmlns:p14="http://schemas.microsoft.com/office/powerpoint/2010/main" val="8704754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2AB7901-23AE-445C-88BD-4C378381B3FB}" type="slidenum">
              <a:rPr lang="en-IN" smtClean="0"/>
              <a:t>12</a:t>
            </a:fld>
            <a:endParaRPr lang="en-IN"/>
          </a:p>
        </p:txBody>
      </p:sp>
    </p:spTree>
    <p:extLst>
      <p:ext uri="{BB962C8B-B14F-4D97-AF65-F5344CB8AC3E}">
        <p14:creationId xmlns:p14="http://schemas.microsoft.com/office/powerpoint/2010/main" val="8455107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2AB7901-23AE-445C-88BD-4C378381B3FB}" type="slidenum">
              <a:rPr lang="en-IN" smtClean="0"/>
              <a:t>14</a:t>
            </a:fld>
            <a:endParaRPr lang="en-IN"/>
          </a:p>
        </p:txBody>
      </p:sp>
    </p:spTree>
    <p:extLst>
      <p:ext uri="{BB962C8B-B14F-4D97-AF65-F5344CB8AC3E}">
        <p14:creationId xmlns:p14="http://schemas.microsoft.com/office/powerpoint/2010/main" val="2895453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2AB7901-23AE-445C-88BD-4C378381B3FB}" type="slidenum">
              <a:rPr lang="en-IN" smtClean="0"/>
              <a:t>17</a:t>
            </a:fld>
            <a:endParaRPr lang="en-IN"/>
          </a:p>
        </p:txBody>
      </p:sp>
    </p:spTree>
    <p:extLst>
      <p:ext uri="{BB962C8B-B14F-4D97-AF65-F5344CB8AC3E}">
        <p14:creationId xmlns:p14="http://schemas.microsoft.com/office/powerpoint/2010/main" val="553948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2AB7901-23AE-445C-88BD-4C378381B3FB}" type="slidenum">
              <a:rPr lang="en-IN" smtClean="0"/>
              <a:t>21</a:t>
            </a:fld>
            <a:endParaRPr lang="en-IN"/>
          </a:p>
        </p:txBody>
      </p:sp>
    </p:spTree>
    <p:extLst>
      <p:ext uri="{BB962C8B-B14F-4D97-AF65-F5344CB8AC3E}">
        <p14:creationId xmlns:p14="http://schemas.microsoft.com/office/powerpoint/2010/main" val="22035524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A083B-5FC3-98F2-AEC5-FEFFD372993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1597282-03E7-76B8-CCE4-715B519A59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4CAA582-77FC-03BF-51BE-004A0776DE04}"/>
              </a:ext>
            </a:extLst>
          </p:cNvPr>
          <p:cNvSpPr>
            <a:spLocks noGrp="1"/>
          </p:cNvSpPr>
          <p:nvPr>
            <p:ph type="dt" sz="half" idx="10"/>
          </p:nvPr>
        </p:nvSpPr>
        <p:spPr/>
        <p:txBody>
          <a:bodyPr/>
          <a:lstStyle/>
          <a:p>
            <a:fld id="{CA1CD675-CC4C-4B43-B948-96D3BAB2DCF4}" type="datetimeFigureOut">
              <a:rPr lang="en-IN" smtClean="0"/>
              <a:t>26-02-2026</a:t>
            </a:fld>
            <a:endParaRPr lang="en-IN"/>
          </a:p>
        </p:txBody>
      </p:sp>
      <p:sp>
        <p:nvSpPr>
          <p:cNvPr id="5" name="Footer Placeholder 4">
            <a:extLst>
              <a:ext uri="{FF2B5EF4-FFF2-40B4-BE49-F238E27FC236}">
                <a16:creationId xmlns:a16="http://schemas.microsoft.com/office/drawing/2014/main" id="{2253DDCB-4ED1-75E5-7817-EF34DE1DFD7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30E6350-F579-9083-9974-F144E701BA63}"/>
              </a:ext>
            </a:extLst>
          </p:cNvPr>
          <p:cNvSpPr>
            <a:spLocks noGrp="1"/>
          </p:cNvSpPr>
          <p:nvPr>
            <p:ph type="sldNum" sz="quarter" idx="12"/>
          </p:nvPr>
        </p:nvSpPr>
        <p:spPr/>
        <p:txBody>
          <a:bodyPr/>
          <a:lstStyle/>
          <a:p>
            <a:fld id="{973C5778-2398-4BE7-AE98-88659974C2B3}" type="slidenum">
              <a:rPr lang="en-IN" smtClean="0"/>
              <a:t>‹#›</a:t>
            </a:fld>
            <a:endParaRPr lang="en-IN"/>
          </a:p>
        </p:txBody>
      </p:sp>
    </p:spTree>
    <p:extLst>
      <p:ext uri="{BB962C8B-B14F-4D97-AF65-F5344CB8AC3E}">
        <p14:creationId xmlns:p14="http://schemas.microsoft.com/office/powerpoint/2010/main" val="13740212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2DDBE-6016-ECB9-FA29-A67C92C11A4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FF41219-73F1-F355-C1A0-5A129C6128F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1FA7FD9-2E86-E1FC-8AE2-D34DE0CCC7B5}"/>
              </a:ext>
            </a:extLst>
          </p:cNvPr>
          <p:cNvSpPr>
            <a:spLocks noGrp="1"/>
          </p:cNvSpPr>
          <p:nvPr>
            <p:ph type="dt" sz="half" idx="10"/>
          </p:nvPr>
        </p:nvSpPr>
        <p:spPr/>
        <p:txBody>
          <a:bodyPr/>
          <a:lstStyle/>
          <a:p>
            <a:fld id="{CA1CD675-CC4C-4B43-B948-96D3BAB2DCF4}" type="datetimeFigureOut">
              <a:rPr lang="en-IN" smtClean="0"/>
              <a:t>26-02-2026</a:t>
            </a:fld>
            <a:endParaRPr lang="en-IN"/>
          </a:p>
        </p:txBody>
      </p:sp>
      <p:sp>
        <p:nvSpPr>
          <p:cNvPr id="5" name="Footer Placeholder 4">
            <a:extLst>
              <a:ext uri="{FF2B5EF4-FFF2-40B4-BE49-F238E27FC236}">
                <a16:creationId xmlns:a16="http://schemas.microsoft.com/office/drawing/2014/main" id="{F944C336-836D-B8AA-AF02-3DFEFAAB60E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DC65C3C-B4A3-D0A7-2240-3F02FAE21C68}"/>
              </a:ext>
            </a:extLst>
          </p:cNvPr>
          <p:cNvSpPr>
            <a:spLocks noGrp="1"/>
          </p:cNvSpPr>
          <p:nvPr>
            <p:ph type="sldNum" sz="quarter" idx="12"/>
          </p:nvPr>
        </p:nvSpPr>
        <p:spPr/>
        <p:txBody>
          <a:bodyPr/>
          <a:lstStyle/>
          <a:p>
            <a:fld id="{973C5778-2398-4BE7-AE98-88659974C2B3}" type="slidenum">
              <a:rPr lang="en-IN" smtClean="0"/>
              <a:t>‹#›</a:t>
            </a:fld>
            <a:endParaRPr lang="en-IN"/>
          </a:p>
        </p:txBody>
      </p:sp>
    </p:spTree>
    <p:extLst>
      <p:ext uri="{BB962C8B-B14F-4D97-AF65-F5344CB8AC3E}">
        <p14:creationId xmlns:p14="http://schemas.microsoft.com/office/powerpoint/2010/main" val="1100770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5E35F-FD99-9D93-7209-B260764A225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CD35DF4-B6CE-46B1-B99B-DBBFE0C5756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6ECAA9C-3138-EEBE-FA8D-D7D95F3753CC}"/>
              </a:ext>
            </a:extLst>
          </p:cNvPr>
          <p:cNvSpPr>
            <a:spLocks noGrp="1"/>
          </p:cNvSpPr>
          <p:nvPr>
            <p:ph type="dt" sz="half" idx="10"/>
          </p:nvPr>
        </p:nvSpPr>
        <p:spPr/>
        <p:txBody>
          <a:bodyPr/>
          <a:lstStyle/>
          <a:p>
            <a:fld id="{CA1CD675-CC4C-4B43-B948-96D3BAB2DCF4}" type="datetimeFigureOut">
              <a:rPr lang="en-IN" smtClean="0"/>
              <a:t>26-02-2026</a:t>
            </a:fld>
            <a:endParaRPr lang="en-IN"/>
          </a:p>
        </p:txBody>
      </p:sp>
      <p:sp>
        <p:nvSpPr>
          <p:cNvPr id="5" name="Footer Placeholder 4">
            <a:extLst>
              <a:ext uri="{FF2B5EF4-FFF2-40B4-BE49-F238E27FC236}">
                <a16:creationId xmlns:a16="http://schemas.microsoft.com/office/drawing/2014/main" id="{DAA7305B-2B68-92E9-A417-E53AFB4F17C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CF01388-477A-F41D-B0B7-343AA3B75B06}"/>
              </a:ext>
            </a:extLst>
          </p:cNvPr>
          <p:cNvSpPr>
            <a:spLocks noGrp="1"/>
          </p:cNvSpPr>
          <p:nvPr>
            <p:ph type="sldNum" sz="quarter" idx="12"/>
          </p:nvPr>
        </p:nvSpPr>
        <p:spPr/>
        <p:txBody>
          <a:bodyPr/>
          <a:lstStyle/>
          <a:p>
            <a:fld id="{973C5778-2398-4BE7-AE98-88659974C2B3}" type="slidenum">
              <a:rPr lang="en-IN" smtClean="0"/>
              <a:t>‹#›</a:t>
            </a:fld>
            <a:endParaRPr lang="en-IN"/>
          </a:p>
        </p:txBody>
      </p:sp>
    </p:spTree>
    <p:extLst>
      <p:ext uri="{BB962C8B-B14F-4D97-AF65-F5344CB8AC3E}">
        <p14:creationId xmlns:p14="http://schemas.microsoft.com/office/powerpoint/2010/main" val="1544795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AE041-57AA-92F5-536D-A8AE4F6CA9F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C442721-7087-906B-2583-2167762E6F1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C60FAC4-910A-03CA-93AA-9E0004255EA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E61C481-E318-1B48-A626-20D08F775732}"/>
              </a:ext>
            </a:extLst>
          </p:cNvPr>
          <p:cNvSpPr>
            <a:spLocks noGrp="1"/>
          </p:cNvSpPr>
          <p:nvPr>
            <p:ph type="dt" sz="half" idx="10"/>
          </p:nvPr>
        </p:nvSpPr>
        <p:spPr/>
        <p:txBody>
          <a:bodyPr/>
          <a:lstStyle/>
          <a:p>
            <a:fld id="{CA1CD675-CC4C-4B43-B948-96D3BAB2DCF4}" type="datetimeFigureOut">
              <a:rPr lang="en-IN" smtClean="0"/>
              <a:t>26-02-2026</a:t>
            </a:fld>
            <a:endParaRPr lang="en-IN"/>
          </a:p>
        </p:txBody>
      </p:sp>
      <p:sp>
        <p:nvSpPr>
          <p:cNvPr id="6" name="Footer Placeholder 5">
            <a:extLst>
              <a:ext uri="{FF2B5EF4-FFF2-40B4-BE49-F238E27FC236}">
                <a16:creationId xmlns:a16="http://schemas.microsoft.com/office/drawing/2014/main" id="{0A2E49BE-3167-7AFB-D096-7D5B4487CBC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B93287B-E4A7-3865-E3CF-0988273ACE2E}"/>
              </a:ext>
            </a:extLst>
          </p:cNvPr>
          <p:cNvSpPr>
            <a:spLocks noGrp="1"/>
          </p:cNvSpPr>
          <p:nvPr>
            <p:ph type="sldNum" sz="quarter" idx="12"/>
          </p:nvPr>
        </p:nvSpPr>
        <p:spPr/>
        <p:txBody>
          <a:bodyPr/>
          <a:lstStyle/>
          <a:p>
            <a:fld id="{973C5778-2398-4BE7-AE98-88659974C2B3}" type="slidenum">
              <a:rPr lang="en-IN" smtClean="0"/>
              <a:t>‹#›</a:t>
            </a:fld>
            <a:endParaRPr lang="en-IN"/>
          </a:p>
        </p:txBody>
      </p:sp>
    </p:spTree>
    <p:extLst>
      <p:ext uri="{BB962C8B-B14F-4D97-AF65-F5344CB8AC3E}">
        <p14:creationId xmlns:p14="http://schemas.microsoft.com/office/powerpoint/2010/main" val="29064241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AB20B-3553-646B-ADA7-9C3C4ADD4C3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0439130-EDE5-68A2-6239-49BA392DE2D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64F9725-1137-151F-9BEB-C604FD52C50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FCEFF8D-85F8-0A81-C921-D8E786E2A4C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663A903-A679-C64B-AB82-798DDFFC1AC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464674D-FB4B-765A-37A6-CA8D5709B659}"/>
              </a:ext>
            </a:extLst>
          </p:cNvPr>
          <p:cNvSpPr>
            <a:spLocks noGrp="1"/>
          </p:cNvSpPr>
          <p:nvPr>
            <p:ph type="dt" sz="half" idx="10"/>
          </p:nvPr>
        </p:nvSpPr>
        <p:spPr/>
        <p:txBody>
          <a:bodyPr/>
          <a:lstStyle/>
          <a:p>
            <a:fld id="{CA1CD675-CC4C-4B43-B948-96D3BAB2DCF4}" type="datetimeFigureOut">
              <a:rPr lang="en-IN" smtClean="0"/>
              <a:t>26-02-2026</a:t>
            </a:fld>
            <a:endParaRPr lang="en-IN"/>
          </a:p>
        </p:txBody>
      </p:sp>
      <p:sp>
        <p:nvSpPr>
          <p:cNvPr id="8" name="Footer Placeholder 7">
            <a:extLst>
              <a:ext uri="{FF2B5EF4-FFF2-40B4-BE49-F238E27FC236}">
                <a16:creationId xmlns:a16="http://schemas.microsoft.com/office/drawing/2014/main" id="{0B8ED294-B8C8-4810-8140-3E79F0A375E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BEF282C-0AC0-D4FF-C616-0306B2CE001E}"/>
              </a:ext>
            </a:extLst>
          </p:cNvPr>
          <p:cNvSpPr>
            <a:spLocks noGrp="1"/>
          </p:cNvSpPr>
          <p:nvPr>
            <p:ph type="sldNum" sz="quarter" idx="12"/>
          </p:nvPr>
        </p:nvSpPr>
        <p:spPr/>
        <p:txBody>
          <a:bodyPr/>
          <a:lstStyle/>
          <a:p>
            <a:fld id="{973C5778-2398-4BE7-AE98-88659974C2B3}" type="slidenum">
              <a:rPr lang="en-IN" smtClean="0"/>
              <a:t>‹#›</a:t>
            </a:fld>
            <a:endParaRPr lang="en-IN"/>
          </a:p>
        </p:txBody>
      </p:sp>
    </p:spTree>
    <p:extLst>
      <p:ext uri="{BB962C8B-B14F-4D97-AF65-F5344CB8AC3E}">
        <p14:creationId xmlns:p14="http://schemas.microsoft.com/office/powerpoint/2010/main" val="28205168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3E7ABE-8574-F7BC-15B1-B2B975B484A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C26D558-BA7D-D516-4A2D-986D1F580EEE}"/>
              </a:ext>
            </a:extLst>
          </p:cNvPr>
          <p:cNvSpPr>
            <a:spLocks noGrp="1"/>
          </p:cNvSpPr>
          <p:nvPr>
            <p:ph type="dt" sz="half" idx="10"/>
          </p:nvPr>
        </p:nvSpPr>
        <p:spPr/>
        <p:txBody>
          <a:bodyPr/>
          <a:lstStyle/>
          <a:p>
            <a:fld id="{CA1CD675-CC4C-4B43-B948-96D3BAB2DCF4}" type="datetimeFigureOut">
              <a:rPr lang="en-IN" smtClean="0"/>
              <a:t>26-02-2026</a:t>
            </a:fld>
            <a:endParaRPr lang="en-IN"/>
          </a:p>
        </p:txBody>
      </p:sp>
      <p:sp>
        <p:nvSpPr>
          <p:cNvPr id="4" name="Footer Placeholder 3">
            <a:extLst>
              <a:ext uri="{FF2B5EF4-FFF2-40B4-BE49-F238E27FC236}">
                <a16:creationId xmlns:a16="http://schemas.microsoft.com/office/drawing/2014/main" id="{3B4E1DF1-6398-C143-FCFD-CE292EF455B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DEA6E1D-D662-AA8A-F70B-6D44EC507A13}"/>
              </a:ext>
            </a:extLst>
          </p:cNvPr>
          <p:cNvSpPr>
            <a:spLocks noGrp="1"/>
          </p:cNvSpPr>
          <p:nvPr>
            <p:ph type="sldNum" sz="quarter" idx="12"/>
          </p:nvPr>
        </p:nvSpPr>
        <p:spPr/>
        <p:txBody>
          <a:bodyPr/>
          <a:lstStyle/>
          <a:p>
            <a:fld id="{973C5778-2398-4BE7-AE98-88659974C2B3}" type="slidenum">
              <a:rPr lang="en-IN" smtClean="0"/>
              <a:t>‹#›</a:t>
            </a:fld>
            <a:endParaRPr lang="en-IN"/>
          </a:p>
        </p:txBody>
      </p:sp>
    </p:spTree>
    <p:extLst>
      <p:ext uri="{BB962C8B-B14F-4D97-AF65-F5344CB8AC3E}">
        <p14:creationId xmlns:p14="http://schemas.microsoft.com/office/powerpoint/2010/main" val="23652943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DD86102-F5EC-FB77-AE23-8EDD7CCB249E}"/>
              </a:ext>
            </a:extLst>
          </p:cNvPr>
          <p:cNvSpPr>
            <a:spLocks noGrp="1"/>
          </p:cNvSpPr>
          <p:nvPr>
            <p:ph type="dt" sz="half" idx="10"/>
          </p:nvPr>
        </p:nvSpPr>
        <p:spPr/>
        <p:txBody>
          <a:bodyPr/>
          <a:lstStyle/>
          <a:p>
            <a:fld id="{CA1CD675-CC4C-4B43-B948-96D3BAB2DCF4}" type="datetimeFigureOut">
              <a:rPr lang="en-IN" smtClean="0"/>
              <a:t>26-02-2026</a:t>
            </a:fld>
            <a:endParaRPr lang="en-IN"/>
          </a:p>
        </p:txBody>
      </p:sp>
      <p:sp>
        <p:nvSpPr>
          <p:cNvPr id="3" name="Footer Placeholder 2">
            <a:extLst>
              <a:ext uri="{FF2B5EF4-FFF2-40B4-BE49-F238E27FC236}">
                <a16:creationId xmlns:a16="http://schemas.microsoft.com/office/drawing/2014/main" id="{38A98CA0-2FA6-A4EB-BE9D-55666927C47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E7AFDB5-9D0B-2132-064B-ABE846C86F2A}"/>
              </a:ext>
            </a:extLst>
          </p:cNvPr>
          <p:cNvSpPr>
            <a:spLocks noGrp="1"/>
          </p:cNvSpPr>
          <p:nvPr>
            <p:ph type="sldNum" sz="quarter" idx="12"/>
          </p:nvPr>
        </p:nvSpPr>
        <p:spPr/>
        <p:txBody>
          <a:bodyPr/>
          <a:lstStyle/>
          <a:p>
            <a:fld id="{973C5778-2398-4BE7-AE98-88659974C2B3}" type="slidenum">
              <a:rPr lang="en-IN" smtClean="0"/>
              <a:t>‹#›</a:t>
            </a:fld>
            <a:endParaRPr lang="en-IN"/>
          </a:p>
        </p:txBody>
      </p:sp>
    </p:spTree>
    <p:extLst>
      <p:ext uri="{BB962C8B-B14F-4D97-AF65-F5344CB8AC3E}">
        <p14:creationId xmlns:p14="http://schemas.microsoft.com/office/powerpoint/2010/main" val="30578554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2667D-20AF-8A26-DD46-EA7437A61A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F71A3EC-01E4-9024-C826-F98EB5A7CFA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CF474DB-4E15-197A-490D-9E52364959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51F7A6-D0EB-8154-2CA6-FCAAAD55CD35}"/>
              </a:ext>
            </a:extLst>
          </p:cNvPr>
          <p:cNvSpPr>
            <a:spLocks noGrp="1"/>
          </p:cNvSpPr>
          <p:nvPr>
            <p:ph type="dt" sz="half" idx="10"/>
          </p:nvPr>
        </p:nvSpPr>
        <p:spPr/>
        <p:txBody>
          <a:bodyPr/>
          <a:lstStyle/>
          <a:p>
            <a:fld id="{CA1CD675-CC4C-4B43-B948-96D3BAB2DCF4}" type="datetimeFigureOut">
              <a:rPr lang="en-IN" smtClean="0"/>
              <a:t>26-02-2026</a:t>
            </a:fld>
            <a:endParaRPr lang="en-IN"/>
          </a:p>
        </p:txBody>
      </p:sp>
      <p:sp>
        <p:nvSpPr>
          <p:cNvPr id="6" name="Footer Placeholder 5">
            <a:extLst>
              <a:ext uri="{FF2B5EF4-FFF2-40B4-BE49-F238E27FC236}">
                <a16:creationId xmlns:a16="http://schemas.microsoft.com/office/drawing/2014/main" id="{BA976772-E1D7-7DB9-11FE-6D45B169ABF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48E3957-AFFD-9277-E070-DF3E4078D049}"/>
              </a:ext>
            </a:extLst>
          </p:cNvPr>
          <p:cNvSpPr>
            <a:spLocks noGrp="1"/>
          </p:cNvSpPr>
          <p:nvPr>
            <p:ph type="sldNum" sz="quarter" idx="12"/>
          </p:nvPr>
        </p:nvSpPr>
        <p:spPr/>
        <p:txBody>
          <a:bodyPr/>
          <a:lstStyle/>
          <a:p>
            <a:fld id="{973C5778-2398-4BE7-AE98-88659974C2B3}" type="slidenum">
              <a:rPr lang="en-IN" smtClean="0"/>
              <a:t>‹#›</a:t>
            </a:fld>
            <a:endParaRPr lang="en-IN"/>
          </a:p>
        </p:txBody>
      </p:sp>
    </p:spTree>
    <p:extLst>
      <p:ext uri="{BB962C8B-B14F-4D97-AF65-F5344CB8AC3E}">
        <p14:creationId xmlns:p14="http://schemas.microsoft.com/office/powerpoint/2010/main" val="1582270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2A17F-1857-6B3A-D5F5-8AAE0AD5328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EF455D2-3FB4-11E4-74E9-8F9E39DA77A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35EB1A7-7618-EA94-C390-DFA00817D1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8887230-EBFE-AF36-80C1-F75785D6CD2E}"/>
              </a:ext>
            </a:extLst>
          </p:cNvPr>
          <p:cNvSpPr>
            <a:spLocks noGrp="1"/>
          </p:cNvSpPr>
          <p:nvPr>
            <p:ph type="dt" sz="half" idx="10"/>
          </p:nvPr>
        </p:nvSpPr>
        <p:spPr/>
        <p:txBody>
          <a:bodyPr/>
          <a:lstStyle/>
          <a:p>
            <a:fld id="{CA1CD675-CC4C-4B43-B948-96D3BAB2DCF4}" type="datetimeFigureOut">
              <a:rPr lang="en-IN" smtClean="0"/>
              <a:t>26-02-2026</a:t>
            </a:fld>
            <a:endParaRPr lang="en-IN"/>
          </a:p>
        </p:txBody>
      </p:sp>
      <p:sp>
        <p:nvSpPr>
          <p:cNvPr id="6" name="Footer Placeholder 5">
            <a:extLst>
              <a:ext uri="{FF2B5EF4-FFF2-40B4-BE49-F238E27FC236}">
                <a16:creationId xmlns:a16="http://schemas.microsoft.com/office/drawing/2014/main" id="{D519A2F7-B63A-8900-F295-1BE84D45583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401410A-A932-1254-34A9-8CD33CBCBCF7}"/>
              </a:ext>
            </a:extLst>
          </p:cNvPr>
          <p:cNvSpPr>
            <a:spLocks noGrp="1"/>
          </p:cNvSpPr>
          <p:nvPr>
            <p:ph type="sldNum" sz="quarter" idx="12"/>
          </p:nvPr>
        </p:nvSpPr>
        <p:spPr/>
        <p:txBody>
          <a:bodyPr/>
          <a:lstStyle/>
          <a:p>
            <a:fld id="{973C5778-2398-4BE7-AE98-88659974C2B3}" type="slidenum">
              <a:rPr lang="en-IN" smtClean="0"/>
              <a:t>‹#›</a:t>
            </a:fld>
            <a:endParaRPr lang="en-IN"/>
          </a:p>
        </p:txBody>
      </p:sp>
    </p:spTree>
    <p:extLst>
      <p:ext uri="{BB962C8B-B14F-4D97-AF65-F5344CB8AC3E}">
        <p14:creationId xmlns:p14="http://schemas.microsoft.com/office/powerpoint/2010/main" val="36619779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FAE8F-0702-D41F-75F1-C8290A9C403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D5D6C6F-1405-7171-ACD6-52C791E2D14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E09F990-246E-F650-4BFC-7FB9E98FAEBF}"/>
              </a:ext>
            </a:extLst>
          </p:cNvPr>
          <p:cNvSpPr>
            <a:spLocks noGrp="1"/>
          </p:cNvSpPr>
          <p:nvPr>
            <p:ph type="dt" sz="half" idx="10"/>
          </p:nvPr>
        </p:nvSpPr>
        <p:spPr/>
        <p:txBody>
          <a:bodyPr/>
          <a:lstStyle/>
          <a:p>
            <a:fld id="{CA1CD675-CC4C-4B43-B948-96D3BAB2DCF4}" type="datetimeFigureOut">
              <a:rPr lang="en-IN" smtClean="0"/>
              <a:t>26-02-2026</a:t>
            </a:fld>
            <a:endParaRPr lang="en-IN"/>
          </a:p>
        </p:txBody>
      </p:sp>
      <p:sp>
        <p:nvSpPr>
          <p:cNvPr id="5" name="Footer Placeholder 4">
            <a:extLst>
              <a:ext uri="{FF2B5EF4-FFF2-40B4-BE49-F238E27FC236}">
                <a16:creationId xmlns:a16="http://schemas.microsoft.com/office/drawing/2014/main" id="{F7836186-BD05-7FA4-CE9C-B68346098E4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EB61A90-64DE-D581-DAE5-6A47D368588F}"/>
              </a:ext>
            </a:extLst>
          </p:cNvPr>
          <p:cNvSpPr>
            <a:spLocks noGrp="1"/>
          </p:cNvSpPr>
          <p:nvPr>
            <p:ph type="sldNum" sz="quarter" idx="12"/>
          </p:nvPr>
        </p:nvSpPr>
        <p:spPr/>
        <p:txBody>
          <a:bodyPr/>
          <a:lstStyle/>
          <a:p>
            <a:fld id="{973C5778-2398-4BE7-AE98-88659974C2B3}" type="slidenum">
              <a:rPr lang="en-IN" smtClean="0"/>
              <a:t>‹#›</a:t>
            </a:fld>
            <a:endParaRPr lang="en-IN"/>
          </a:p>
        </p:txBody>
      </p:sp>
    </p:spTree>
    <p:extLst>
      <p:ext uri="{BB962C8B-B14F-4D97-AF65-F5344CB8AC3E}">
        <p14:creationId xmlns:p14="http://schemas.microsoft.com/office/powerpoint/2010/main" val="3475684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1B192B7-B014-C4C2-F65F-B31A22E3227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DD9BE4C-2462-A749-F002-258C4515ED0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A306BCE-EC4E-30AF-BFC6-42918BEA065A}"/>
              </a:ext>
            </a:extLst>
          </p:cNvPr>
          <p:cNvSpPr>
            <a:spLocks noGrp="1"/>
          </p:cNvSpPr>
          <p:nvPr>
            <p:ph type="dt" sz="half" idx="10"/>
          </p:nvPr>
        </p:nvSpPr>
        <p:spPr/>
        <p:txBody>
          <a:bodyPr/>
          <a:lstStyle/>
          <a:p>
            <a:fld id="{CA1CD675-CC4C-4B43-B948-96D3BAB2DCF4}" type="datetimeFigureOut">
              <a:rPr lang="en-IN" smtClean="0"/>
              <a:t>26-02-2026</a:t>
            </a:fld>
            <a:endParaRPr lang="en-IN"/>
          </a:p>
        </p:txBody>
      </p:sp>
      <p:sp>
        <p:nvSpPr>
          <p:cNvPr id="5" name="Footer Placeholder 4">
            <a:extLst>
              <a:ext uri="{FF2B5EF4-FFF2-40B4-BE49-F238E27FC236}">
                <a16:creationId xmlns:a16="http://schemas.microsoft.com/office/drawing/2014/main" id="{8D4141A8-F1F0-ECA9-B0A1-F912C1E1337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148F538-CB77-0408-FB88-9A7AB12920E3}"/>
              </a:ext>
            </a:extLst>
          </p:cNvPr>
          <p:cNvSpPr>
            <a:spLocks noGrp="1"/>
          </p:cNvSpPr>
          <p:nvPr>
            <p:ph type="sldNum" sz="quarter" idx="12"/>
          </p:nvPr>
        </p:nvSpPr>
        <p:spPr/>
        <p:txBody>
          <a:bodyPr/>
          <a:lstStyle/>
          <a:p>
            <a:fld id="{973C5778-2398-4BE7-AE98-88659974C2B3}" type="slidenum">
              <a:rPr lang="en-IN" smtClean="0"/>
              <a:t>‹#›</a:t>
            </a:fld>
            <a:endParaRPr lang="en-IN"/>
          </a:p>
        </p:txBody>
      </p:sp>
    </p:spTree>
    <p:extLst>
      <p:ext uri="{BB962C8B-B14F-4D97-AF65-F5344CB8AC3E}">
        <p14:creationId xmlns:p14="http://schemas.microsoft.com/office/powerpoint/2010/main" val="35517660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B4236EA-19E1-9C8C-4895-93F2665A7FB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4398097-B4A2-6374-696B-50FCFB11985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02931C0-08FE-BB2E-A9E2-363B5F38FDE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A1CD675-CC4C-4B43-B948-96D3BAB2DCF4}" type="datetimeFigureOut">
              <a:rPr lang="en-IN" smtClean="0"/>
              <a:t>26-02-2026</a:t>
            </a:fld>
            <a:endParaRPr lang="en-IN"/>
          </a:p>
        </p:txBody>
      </p:sp>
      <p:sp>
        <p:nvSpPr>
          <p:cNvPr id="5" name="Footer Placeholder 4">
            <a:extLst>
              <a:ext uri="{FF2B5EF4-FFF2-40B4-BE49-F238E27FC236}">
                <a16:creationId xmlns:a16="http://schemas.microsoft.com/office/drawing/2014/main" id="{0BBEF70F-6274-D65A-98A1-975AC8570C3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311C96C-B0E0-CFDF-BB84-29C70141C1B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73C5778-2398-4BE7-AE98-88659974C2B3}" type="slidenum">
              <a:rPr lang="en-IN" smtClean="0"/>
              <a:t>‹#›</a:t>
            </a:fld>
            <a:endParaRPr lang="en-IN"/>
          </a:p>
        </p:txBody>
      </p:sp>
    </p:spTree>
    <p:extLst>
      <p:ext uri="{BB962C8B-B14F-4D97-AF65-F5344CB8AC3E}">
        <p14:creationId xmlns:p14="http://schemas.microsoft.com/office/powerpoint/2010/main" val="12367213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2.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2.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18.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2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23.png"/><Relationship Id="rId7" Type="http://schemas.openxmlformats.org/officeDocument/2006/relationships/image" Target="../media/image2.png"/><Relationship Id="rId2"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15.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2.png"/><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2.png"/><Relationship Id="rId4" Type="http://schemas.openxmlformats.org/officeDocument/2006/relationships/image" Target="../media/image32.png"/></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AD4B8F15-B023-61DD-D930-25217B4A007B}"/>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BBA10980-5F00-076A-9824-D660DFBACE8E}"/>
              </a:ext>
            </a:extLst>
          </p:cNvPr>
          <p:cNvSpPr/>
          <p:nvPr/>
        </p:nvSpPr>
        <p:spPr>
          <a:xfrm>
            <a:off x="990600" y="228599"/>
            <a:ext cx="9914467" cy="677333"/>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Customer Segmentation Analysis Using SQL &amp; BI</a:t>
            </a:r>
            <a:endParaRPr lang="en-IN" b="1" dirty="0">
              <a:solidFill>
                <a:schemeClr val="tx1"/>
              </a:solidFill>
            </a:endParaRPr>
          </a:p>
        </p:txBody>
      </p:sp>
      <p:sp>
        <p:nvSpPr>
          <p:cNvPr id="3" name="Rectangle: Rounded Corners 2">
            <a:extLst>
              <a:ext uri="{FF2B5EF4-FFF2-40B4-BE49-F238E27FC236}">
                <a16:creationId xmlns:a16="http://schemas.microsoft.com/office/drawing/2014/main" id="{8C938008-E027-E378-A97F-A2290C761A4D}"/>
              </a:ext>
            </a:extLst>
          </p:cNvPr>
          <p:cNvSpPr/>
          <p:nvPr/>
        </p:nvSpPr>
        <p:spPr>
          <a:xfrm>
            <a:off x="431800" y="1397000"/>
            <a:ext cx="11201400" cy="4504266"/>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Project Team Id: </a:t>
            </a:r>
            <a:r>
              <a:rPr lang="en-US" dirty="0">
                <a:solidFill>
                  <a:schemeClr val="accent1">
                    <a:lumMod val="50000"/>
                  </a:schemeClr>
                </a:solidFill>
              </a:rPr>
              <a:t>PTID-CDA-FEB-26-1269</a:t>
            </a:r>
          </a:p>
          <a:p>
            <a:pPr algn="ctr"/>
            <a:endParaRPr lang="en-US" dirty="0">
              <a:solidFill>
                <a:schemeClr val="accent1">
                  <a:lumMod val="50000"/>
                </a:schemeClr>
              </a:solidFill>
            </a:endParaRPr>
          </a:p>
          <a:p>
            <a:pPr algn="ctr"/>
            <a:r>
              <a:rPr lang="en-US" b="1" dirty="0">
                <a:solidFill>
                  <a:schemeClr val="accent1">
                    <a:lumMod val="50000"/>
                  </a:schemeClr>
                </a:solidFill>
              </a:rPr>
              <a:t>  </a:t>
            </a:r>
            <a:r>
              <a:rPr lang="en-US" b="1" dirty="0">
                <a:solidFill>
                  <a:schemeClr val="tx1"/>
                </a:solidFill>
              </a:rPr>
              <a:t>Project Id: </a:t>
            </a:r>
            <a:r>
              <a:rPr lang="en-US" dirty="0">
                <a:solidFill>
                  <a:schemeClr val="accent1">
                    <a:lumMod val="50000"/>
                  </a:schemeClr>
                </a:solidFill>
              </a:rPr>
              <a:t>PRDA-04(Customer Data Analysis)</a:t>
            </a:r>
          </a:p>
          <a:p>
            <a:pPr algn="ctr"/>
            <a:endParaRPr lang="en-US" dirty="0">
              <a:solidFill>
                <a:schemeClr val="accent1">
                  <a:lumMod val="50000"/>
                </a:schemeClr>
              </a:solidFill>
            </a:endParaRPr>
          </a:p>
          <a:p>
            <a:pPr algn="ctr"/>
            <a:r>
              <a:rPr lang="en-US" b="1" dirty="0">
                <a:solidFill>
                  <a:schemeClr val="tx1"/>
                </a:solidFill>
              </a:rPr>
              <a:t>Team members: </a:t>
            </a:r>
            <a:r>
              <a:rPr lang="en-US" dirty="0">
                <a:solidFill>
                  <a:schemeClr val="accent1">
                    <a:lumMod val="50000"/>
                  </a:schemeClr>
                </a:solidFill>
              </a:rPr>
              <a:t>P. Chowdesh, Darshan M</a:t>
            </a:r>
          </a:p>
          <a:p>
            <a:pPr algn="ctr"/>
            <a:endParaRPr lang="en-US" b="1" dirty="0">
              <a:solidFill>
                <a:schemeClr val="tx1"/>
              </a:solidFill>
            </a:endParaRPr>
          </a:p>
          <a:p>
            <a:pPr algn="ctr"/>
            <a:r>
              <a:rPr lang="en-US" b="1" dirty="0">
                <a:solidFill>
                  <a:schemeClr val="tx1"/>
                </a:solidFill>
              </a:rPr>
              <a:t>Course Name: </a:t>
            </a:r>
            <a:r>
              <a:rPr lang="en-US" dirty="0">
                <a:solidFill>
                  <a:schemeClr val="accent1">
                    <a:lumMod val="50000"/>
                  </a:schemeClr>
                </a:solidFill>
              </a:rPr>
              <a:t>Certified Data Analytic</a:t>
            </a:r>
          </a:p>
          <a:p>
            <a:pPr algn="ctr"/>
            <a:endParaRPr lang="en-US" b="1" dirty="0">
              <a:solidFill>
                <a:schemeClr val="tx1"/>
              </a:solidFill>
            </a:endParaRPr>
          </a:p>
          <a:p>
            <a:pPr algn="ctr"/>
            <a:r>
              <a:rPr lang="en-US" b="1" dirty="0">
                <a:solidFill>
                  <a:schemeClr val="tx1"/>
                </a:solidFill>
              </a:rPr>
              <a:t>Project Name: </a:t>
            </a:r>
            <a:r>
              <a:rPr lang="en-US" dirty="0">
                <a:solidFill>
                  <a:schemeClr val="accent1">
                    <a:lumMod val="50000"/>
                  </a:schemeClr>
                </a:solidFill>
              </a:rPr>
              <a:t>customer_Segmentation_project</a:t>
            </a:r>
          </a:p>
          <a:p>
            <a:pPr algn="ctr"/>
            <a:endParaRPr lang="en-US" b="1" dirty="0">
              <a:solidFill>
                <a:schemeClr val="tx1"/>
              </a:solidFill>
            </a:endParaRPr>
          </a:p>
          <a:p>
            <a:pPr algn="ctr"/>
            <a:r>
              <a:rPr lang="en-US" b="1" dirty="0">
                <a:solidFill>
                  <a:schemeClr val="tx1"/>
                </a:solidFill>
              </a:rPr>
              <a:t>Email Id:</a:t>
            </a:r>
            <a:r>
              <a:rPr lang="en-US" dirty="0">
                <a:solidFill>
                  <a:schemeClr val="accent1">
                    <a:lumMod val="50000"/>
                  </a:schemeClr>
                </a:solidFill>
              </a:rPr>
              <a:t>pchowdesh8618@gmail.com ,darshandichi82@gmail.com</a:t>
            </a:r>
          </a:p>
          <a:p>
            <a:pPr algn="ctr"/>
            <a:endParaRPr lang="en-US" b="1" dirty="0">
              <a:solidFill>
                <a:schemeClr val="tx1"/>
              </a:solidFill>
            </a:endParaRPr>
          </a:p>
          <a:p>
            <a:pPr algn="ctr"/>
            <a:r>
              <a:rPr lang="en-US" b="1" dirty="0">
                <a:solidFill>
                  <a:schemeClr val="tx1"/>
                </a:solidFill>
              </a:rPr>
              <a:t>Institute Name: </a:t>
            </a:r>
            <a:r>
              <a:rPr lang="en-US" dirty="0">
                <a:solidFill>
                  <a:schemeClr val="accent1">
                    <a:lumMod val="50000"/>
                  </a:schemeClr>
                </a:solidFill>
              </a:rPr>
              <a:t>Datamites(kudligate branch)</a:t>
            </a:r>
          </a:p>
          <a:p>
            <a:pPr algn="ctr"/>
            <a:endParaRPr lang="en-IN" dirty="0"/>
          </a:p>
        </p:txBody>
      </p:sp>
      <p:pic>
        <p:nvPicPr>
          <p:cNvPr id="10" name="Picture 9">
            <a:extLst>
              <a:ext uri="{FF2B5EF4-FFF2-40B4-BE49-F238E27FC236}">
                <a16:creationId xmlns:a16="http://schemas.microsoft.com/office/drawing/2014/main" id="{D04F5436-E74F-ABFF-7EAB-9A9A6D6A63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94417" y="304798"/>
            <a:ext cx="1049866" cy="524933"/>
          </a:xfrm>
          <a:prstGeom prst="rect">
            <a:avLst/>
          </a:prstGeom>
        </p:spPr>
      </p:pic>
      <p:pic>
        <p:nvPicPr>
          <p:cNvPr id="11" name="Picture 10">
            <a:extLst>
              <a:ext uri="{FF2B5EF4-FFF2-40B4-BE49-F238E27FC236}">
                <a16:creationId xmlns:a16="http://schemas.microsoft.com/office/drawing/2014/main" id="{8BEB88DF-D1FF-E7F4-FB7E-30E2AE7158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30" y="297950"/>
            <a:ext cx="863420" cy="524933"/>
          </a:xfrm>
          <a:prstGeom prst="rect">
            <a:avLst/>
          </a:prstGeom>
        </p:spPr>
      </p:pic>
    </p:spTree>
    <p:extLst>
      <p:ext uri="{BB962C8B-B14F-4D97-AF65-F5344CB8AC3E}">
        <p14:creationId xmlns:p14="http://schemas.microsoft.com/office/powerpoint/2010/main" val="36695778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BB08229-AFB6-8C99-1EC4-8D5DC34DDF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26324" y="312790"/>
            <a:ext cx="1049866" cy="524933"/>
          </a:xfrm>
          <a:prstGeom prst="rect">
            <a:avLst/>
          </a:prstGeom>
        </p:spPr>
      </p:pic>
      <p:sp>
        <p:nvSpPr>
          <p:cNvPr id="3" name="TextBox 2">
            <a:extLst>
              <a:ext uri="{FF2B5EF4-FFF2-40B4-BE49-F238E27FC236}">
                <a16:creationId xmlns:a16="http://schemas.microsoft.com/office/drawing/2014/main" id="{D856F407-08A6-EE8D-77F3-A09FC50E1778}"/>
              </a:ext>
            </a:extLst>
          </p:cNvPr>
          <p:cNvSpPr txBox="1"/>
          <p:nvPr/>
        </p:nvSpPr>
        <p:spPr>
          <a:xfrm>
            <a:off x="963038" y="314503"/>
            <a:ext cx="9963286" cy="523220"/>
          </a:xfrm>
          <a:prstGeom prst="rect">
            <a:avLst/>
          </a:prstGeom>
          <a:solidFill>
            <a:schemeClr val="bg1"/>
          </a:solidFill>
        </p:spPr>
        <p:txBody>
          <a:bodyPr wrap="square" rtlCol="0">
            <a:spAutoFit/>
          </a:bodyPr>
          <a:lstStyle/>
          <a:p>
            <a:pPr algn="ctr"/>
            <a:r>
              <a:rPr lang="en-IN" sz="2800" dirty="0"/>
              <a:t>Project Objective</a:t>
            </a:r>
          </a:p>
        </p:txBody>
      </p:sp>
      <p:pic>
        <p:nvPicPr>
          <p:cNvPr id="4" name="Picture 3">
            <a:extLst>
              <a:ext uri="{FF2B5EF4-FFF2-40B4-BE49-F238E27FC236}">
                <a16:creationId xmlns:a16="http://schemas.microsoft.com/office/drawing/2014/main" id="{021B06E1-0A72-4A07-BEEF-49651F698C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12789"/>
            <a:ext cx="836579" cy="524933"/>
          </a:xfrm>
          <a:prstGeom prst="rect">
            <a:avLst/>
          </a:prstGeom>
        </p:spPr>
      </p:pic>
      <p:sp>
        <p:nvSpPr>
          <p:cNvPr id="5" name="TextBox 4">
            <a:extLst>
              <a:ext uri="{FF2B5EF4-FFF2-40B4-BE49-F238E27FC236}">
                <a16:creationId xmlns:a16="http://schemas.microsoft.com/office/drawing/2014/main" id="{9C4BC94E-C66D-6A15-436C-499B36846598}"/>
              </a:ext>
            </a:extLst>
          </p:cNvPr>
          <p:cNvSpPr txBox="1"/>
          <p:nvPr/>
        </p:nvSpPr>
        <p:spPr>
          <a:xfrm>
            <a:off x="398834" y="1400783"/>
            <a:ext cx="11381362" cy="5170646"/>
          </a:xfrm>
          <a:prstGeom prst="rect">
            <a:avLst/>
          </a:prstGeom>
          <a:solidFill>
            <a:schemeClr val="bg1"/>
          </a:solidFill>
        </p:spPr>
        <p:txBody>
          <a:bodyPr wrap="square" rtlCol="0">
            <a:spAutoFit/>
          </a:bodyPr>
          <a:lstStyle/>
          <a:p>
            <a:r>
              <a:rPr lang="en-US" sz="2400" dirty="0"/>
              <a:t>The objective of this project is to analyze customer purchasing behavior using SQL and Power BI, in order to identify key customer segments, revenue patterns, and business insights that support data-driven decision making.</a:t>
            </a:r>
          </a:p>
          <a:p>
            <a:r>
              <a:rPr lang="en-US" sz="2400" b="1" dirty="0"/>
              <a:t>To Analysis:-</a:t>
            </a:r>
          </a:p>
          <a:p>
            <a:r>
              <a:rPr lang="en-US" sz="2400" dirty="0"/>
              <a:t>To analyze customer purchase data using SQL</a:t>
            </a:r>
          </a:p>
          <a:p>
            <a:r>
              <a:rPr lang="en-US" sz="2400" dirty="0"/>
              <a:t>To calculate key performance indicators (KPIs)</a:t>
            </a:r>
          </a:p>
          <a:p>
            <a:r>
              <a:rPr lang="en-US" sz="2400" dirty="0"/>
              <a:t>To segment customers based on age, gender, and category</a:t>
            </a:r>
          </a:p>
          <a:p>
            <a:r>
              <a:rPr lang="en-US" sz="2400" dirty="0"/>
              <a:t>To identify revenue trends and top-performing segments</a:t>
            </a:r>
          </a:p>
          <a:p>
            <a:r>
              <a:rPr lang="en-US" sz="2400" dirty="0"/>
              <a:t>To provide business insights for better decision-making</a:t>
            </a:r>
          </a:p>
          <a:p>
            <a:r>
              <a:rPr lang="en-US" sz="2400" b="1" dirty="0"/>
              <a:t>Aim:-</a:t>
            </a:r>
          </a:p>
          <a:p>
            <a:r>
              <a:rPr lang="en-US" sz="2400" dirty="0"/>
              <a:t>This project aims to analyze customer transaction data to understand purchasing patterns, calculate key KPIs like revenue and AOV, and identify important customer segments that contribute most to the business.</a:t>
            </a:r>
            <a:endParaRPr lang="en-US" sz="2400" b="1" dirty="0"/>
          </a:p>
          <a:p>
            <a:endParaRPr lang="en-US" dirty="0"/>
          </a:p>
        </p:txBody>
      </p:sp>
    </p:spTree>
    <p:extLst>
      <p:ext uri="{BB962C8B-B14F-4D97-AF65-F5344CB8AC3E}">
        <p14:creationId xmlns:p14="http://schemas.microsoft.com/office/powerpoint/2010/main" val="7486963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5A679641-6D5B-7C9C-AAF0-EEFD5110E6FE}"/>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BB69221C-09F3-5C5F-FD6D-8BFB2356BC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26324" y="236704"/>
            <a:ext cx="1049866" cy="524933"/>
          </a:xfrm>
          <a:prstGeom prst="rect">
            <a:avLst/>
          </a:prstGeom>
        </p:spPr>
      </p:pic>
      <p:sp>
        <p:nvSpPr>
          <p:cNvPr id="3" name="TextBox 2">
            <a:extLst>
              <a:ext uri="{FF2B5EF4-FFF2-40B4-BE49-F238E27FC236}">
                <a16:creationId xmlns:a16="http://schemas.microsoft.com/office/drawing/2014/main" id="{8E464EE4-BFC1-4DB0-1402-A13BD5F86F6F}"/>
              </a:ext>
            </a:extLst>
          </p:cNvPr>
          <p:cNvSpPr txBox="1"/>
          <p:nvPr/>
        </p:nvSpPr>
        <p:spPr>
          <a:xfrm>
            <a:off x="1391055" y="236704"/>
            <a:ext cx="9144000" cy="461665"/>
          </a:xfrm>
          <a:prstGeom prst="rect">
            <a:avLst/>
          </a:prstGeom>
          <a:solidFill>
            <a:schemeClr val="bg1"/>
          </a:solidFill>
        </p:spPr>
        <p:txBody>
          <a:bodyPr wrap="square" rtlCol="0">
            <a:spAutoFit/>
          </a:bodyPr>
          <a:lstStyle/>
          <a:p>
            <a:pPr algn="ctr"/>
            <a:r>
              <a:rPr lang="en-IN" sz="2400" dirty="0"/>
              <a:t>Dataset Overview</a:t>
            </a:r>
          </a:p>
        </p:txBody>
      </p:sp>
      <p:sp>
        <p:nvSpPr>
          <p:cNvPr id="4" name="TextBox 3">
            <a:extLst>
              <a:ext uri="{FF2B5EF4-FFF2-40B4-BE49-F238E27FC236}">
                <a16:creationId xmlns:a16="http://schemas.microsoft.com/office/drawing/2014/main" id="{B63E71F9-166B-BA91-BA27-C933118AEE74}"/>
              </a:ext>
            </a:extLst>
          </p:cNvPr>
          <p:cNvSpPr txBox="1"/>
          <p:nvPr/>
        </p:nvSpPr>
        <p:spPr>
          <a:xfrm>
            <a:off x="1157591" y="1400784"/>
            <a:ext cx="9863847" cy="3939540"/>
          </a:xfrm>
          <a:prstGeom prst="rect">
            <a:avLst/>
          </a:prstGeom>
          <a:solidFill>
            <a:schemeClr val="bg1"/>
          </a:solidFill>
        </p:spPr>
        <p:txBody>
          <a:bodyPr wrap="square" rtlCol="0">
            <a:spAutoFit/>
          </a:bodyPr>
          <a:lstStyle/>
          <a:p>
            <a:r>
              <a:rPr lang="en-US" b="1" u="sng" dirty="0"/>
              <a:t>About Dataset :-</a:t>
            </a:r>
          </a:p>
          <a:p>
            <a:endParaRPr lang="en-US" b="1" dirty="0"/>
          </a:p>
          <a:p>
            <a:r>
              <a:rPr lang="en-IN" dirty="0"/>
              <a:t>      </a:t>
            </a:r>
            <a:r>
              <a:rPr lang="en-IN" sz="2000" dirty="0"/>
              <a:t>This dataset contains shopping information from 10 different shopping malls between 2021 and 2023. We have gathered data from various age groups and genders to provide a comprehensive view of shopping habits in Istanbul. The dataset includes essential information such as invoice numbers, customer IDs, age, gender, payment methods, product categories, quantity, price, order dates, and shopping mall locations. </a:t>
            </a:r>
          </a:p>
          <a:p>
            <a:endParaRPr lang="en-IN" dirty="0"/>
          </a:p>
          <a:p>
            <a:endParaRPr lang="en-IN" dirty="0"/>
          </a:p>
          <a:p>
            <a:r>
              <a:rPr lang="en-US" sz="2000" dirty="0"/>
              <a:t>The dataset consists of customer transaction records including demographic information, product category, purchase quantity, and payment details. It helps in analyzing revenue patterns, customer segments, and overall business performance.</a:t>
            </a:r>
            <a:endParaRPr lang="en-IN" sz="2000" dirty="0"/>
          </a:p>
          <a:p>
            <a:endParaRPr lang="en-IN" b="1" dirty="0"/>
          </a:p>
        </p:txBody>
      </p:sp>
      <p:pic>
        <p:nvPicPr>
          <p:cNvPr id="6" name="Picture 5">
            <a:extLst>
              <a:ext uri="{FF2B5EF4-FFF2-40B4-BE49-F238E27FC236}">
                <a16:creationId xmlns:a16="http://schemas.microsoft.com/office/drawing/2014/main" id="{804D276D-086C-354F-63F2-2B3201BB3F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46182" y="5457216"/>
            <a:ext cx="1665512" cy="1107570"/>
          </a:xfrm>
          <a:prstGeom prst="rect">
            <a:avLst/>
          </a:prstGeom>
        </p:spPr>
      </p:pic>
      <p:pic>
        <p:nvPicPr>
          <p:cNvPr id="7" name="Picture 6">
            <a:extLst>
              <a:ext uri="{FF2B5EF4-FFF2-40B4-BE49-F238E27FC236}">
                <a16:creationId xmlns:a16="http://schemas.microsoft.com/office/drawing/2014/main" id="{F013B222-5826-EFBE-DD56-7762E22DAD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87269" y="5457216"/>
            <a:ext cx="1538050" cy="847989"/>
          </a:xfrm>
          <a:prstGeom prst="rect">
            <a:avLst/>
          </a:prstGeom>
        </p:spPr>
      </p:pic>
      <p:pic>
        <p:nvPicPr>
          <p:cNvPr id="10" name="Picture 9">
            <a:extLst>
              <a:ext uri="{FF2B5EF4-FFF2-40B4-BE49-F238E27FC236}">
                <a16:creationId xmlns:a16="http://schemas.microsoft.com/office/drawing/2014/main" id="{FD34F86E-7EA1-BDDE-5AB7-CAF134ABDB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67" y="74578"/>
            <a:ext cx="1399622" cy="1209314"/>
          </a:xfrm>
          <a:prstGeom prst="rect">
            <a:avLst/>
          </a:prstGeom>
        </p:spPr>
      </p:pic>
    </p:spTree>
    <p:extLst>
      <p:ext uri="{BB962C8B-B14F-4D97-AF65-F5344CB8AC3E}">
        <p14:creationId xmlns:p14="http://schemas.microsoft.com/office/powerpoint/2010/main" val="38599967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3C59364-F13C-B423-A276-01653B346CB9}"/>
              </a:ext>
            </a:extLst>
          </p:cNvPr>
          <p:cNvSpPr txBox="1"/>
          <p:nvPr/>
        </p:nvSpPr>
        <p:spPr>
          <a:xfrm>
            <a:off x="1820693" y="184827"/>
            <a:ext cx="8375515" cy="738664"/>
          </a:xfrm>
          <a:prstGeom prst="rect">
            <a:avLst/>
          </a:prstGeom>
          <a:solidFill>
            <a:schemeClr val="bg1"/>
          </a:solidFill>
        </p:spPr>
        <p:txBody>
          <a:bodyPr wrap="square" rtlCol="0">
            <a:spAutoFit/>
          </a:bodyPr>
          <a:lstStyle/>
          <a:p>
            <a:pPr algn="ctr"/>
            <a:r>
              <a:rPr lang="en-IN" sz="2400" b="1" u="sng" dirty="0"/>
              <a:t>Attribute Information</a:t>
            </a:r>
            <a:r>
              <a:rPr lang="en-IN" u="sng" dirty="0"/>
              <a:t>:</a:t>
            </a:r>
            <a:endParaRPr lang="en-IN" dirty="0"/>
          </a:p>
          <a:p>
            <a:endParaRPr lang="en-IN" dirty="0"/>
          </a:p>
        </p:txBody>
      </p:sp>
      <p:sp>
        <p:nvSpPr>
          <p:cNvPr id="3" name="TextBox 2">
            <a:extLst>
              <a:ext uri="{FF2B5EF4-FFF2-40B4-BE49-F238E27FC236}">
                <a16:creationId xmlns:a16="http://schemas.microsoft.com/office/drawing/2014/main" id="{73249B4F-E2C6-5A7E-9EF1-8AB9AA09804C}"/>
              </a:ext>
            </a:extLst>
          </p:cNvPr>
          <p:cNvSpPr txBox="1"/>
          <p:nvPr/>
        </p:nvSpPr>
        <p:spPr>
          <a:xfrm>
            <a:off x="554477" y="1420238"/>
            <a:ext cx="10885252" cy="4616648"/>
          </a:xfrm>
          <a:prstGeom prst="rect">
            <a:avLst/>
          </a:prstGeom>
          <a:solidFill>
            <a:schemeClr val="bg1"/>
          </a:solidFill>
        </p:spPr>
        <p:txBody>
          <a:bodyPr wrap="square" rtlCol="0">
            <a:spAutoFit/>
          </a:bodyPr>
          <a:lstStyle/>
          <a:p>
            <a:r>
              <a:rPr lang="en-IN" sz="1600" b="1" dirty="0" err="1"/>
              <a:t>invoice_no</a:t>
            </a:r>
            <a:r>
              <a:rPr lang="en-IN" sz="1600" b="1" dirty="0"/>
              <a:t>: </a:t>
            </a:r>
            <a:r>
              <a:rPr lang="en-IN" dirty="0"/>
              <a:t>A combination of the letter 'I' and a 6-digit integer uniquely assigned to each operation.</a:t>
            </a:r>
          </a:p>
          <a:p>
            <a:r>
              <a:rPr lang="en-IN" b="1" dirty="0" err="1"/>
              <a:t>customer_id</a:t>
            </a:r>
            <a:r>
              <a:rPr lang="en-IN" b="1" dirty="0"/>
              <a:t>: </a:t>
            </a:r>
            <a:r>
              <a:rPr lang="en-IN" dirty="0"/>
              <a:t>A combination of the letter 'C' and a 6-digit integer uniquely assigned to each operation.</a:t>
            </a:r>
          </a:p>
          <a:p>
            <a:r>
              <a:rPr lang="en-IN" b="1" dirty="0"/>
              <a:t>gender: </a:t>
            </a:r>
            <a:r>
              <a:rPr lang="en-IN" dirty="0"/>
              <a:t>String variable of the customer's gender.</a:t>
            </a:r>
          </a:p>
          <a:p>
            <a:r>
              <a:rPr lang="en-IN" b="1" dirty="0"/>
              <a:t>age</a:t>
            </a:r>
            <a:r>
              <a:rPr lang="en-IN" dirty="0"/>
              <a:t>:  Positive Integer variable of the customers age.</a:t>
            </a:r>
          </a:p>
          <a:p>
            <a:r>
              <a:rPr lang="en-IN" b="1" dirty="0"/>
              <a:t>category:  </a:t>
            </a:r>
            <a:r>
              <a:rPr lang="en-IN" dirty="0"/>
              <a:t>String variable of the category of the purchased product.</a:t>
            </a:r>
          </a:p>
          <a:p>
            <a:r>
              <a:rPr lang="en-IN" b="1" dirty="0"/>
              <a:t>quantity: </a:t>
            </a:r>
            <a:r>
              <a:rPr lang="en-IN" dirty="0"/>
              <a:t>The quantities of each product (item) per transaction.</a:t>
            </a:r>
          </a:p>
          <a:p>
            <a:r>
              <a:rPr lang="en-IN" b="1" dirty="0"/>
              <a:t>price:</a:t>
            </a:r>
            <a:r>
              <a:rPr lang="en-IN" dirty="0"/>
              <a:t> Product price per unit in Turkish Liras (TL).</a:t>
            </a:r>
          </a:p>
          <a:p>
            <a:r>
              <a:rPr lang="en-IN" b="1" dirty="0" err="1"/>
              <a:t>payment_method</a:t>
            </a:r>
            <a:r>
              <a:rPr lang="en-IN" b="1" dirty="0"/>
              <a:t>: </a:t>
            </a:r>
            <a:r>
              <a:rPr lang="en-IN" dirty="0"/>
              <a:t>String variable of the payment method (cash, credit card or debit card) used for the transaction.</a:t>
            </a:r>
          </a:p>
          <a:p>
            <a:r>
              <a:rPr lang="en-IN" b="1" dirty="0" err="1"/>
              <a:t>invoice_date</a:t>
            </a:r>
            <a:r>
              <a:rPr lang="en-IN" b="1" dirty="0"/>
              <a:t>: </a:t>
            </a:r>
            <a:r>
              <a:rPr lang="en-IN" dirty="0"/>
              <a:t>The day when a transaction was generated.</a:t>
            </a:r>
          </a:p>
          <a:p>
            <a:r>
              <a:rPr lang="en-IN" b="1" dirty="0" err="1"/>
              <a:t>shopping_mall</a:t>
            </a:r>
            <a:r>
              <a:rPr lang="en-IN" b="1" dirty="0"/>
              <a:t>: </a:t>
            </a:r>
            <a:r>
              <a:rPr lang="en-IN" dirty="0"/>
              <a:t>String variable of the name of the shopping mall where the transaction was made.</a:t>
            </a:r>
          </a:p>
          <a:p>
            <a:endParaRPr lang="en-IN" dirty="0"/>
          </a:p>
          <a:p>
            <a:endParaRPr lang="en-IN" dirty="0"/>
          </a:p>
          <a:p>
            <a:r>
              <a:rPr lang="en-US" sz="2000" b="1" dirty="0"/>
              <a:t>The dataset contains transactional and demographic attributes such as invoice number, customer ID, age, gender, category, quantity, price, and payment method. These attributes help in calculating KPIs and performing customer segmentation analysis.</a:t>
            </a:r>
            <a:endParaRPr lang="en-IN" sz="2000" b="1" dirty="0"/>
          </a:p>
          <a:p>
            <a:endParaRPr lang="en-IN" dirty="0"/>
          </a:p>
        </p:txBody>
      </p:sp>
      <p:pic>
        <p:nvPicPr>
          <p:cNvPr id="4" name="Picture 3">
            <a:extLst>
              <a:ext uri="{FF2B5EF4-FFF2-40B4-BE49-F238E27FC236}">
                <a16:creationId xmlns:a16="http://schemas.microsoft.com/office/drawing/2014/main" id="{6DEEF0CF-39B4-3E88-2509-4EA5C91693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53949" y="184828"/>
            <a:ext cx="1049866" cy="636286"/>
          </a:xfrm>
          <a:prstGeom prst="rect">
            <a:avLst/>
          </a:prstGeom>
        </p:spPr>
      </p:pic>
      <p:pic>
        <p:nvPicPr>
          <p:cNvPr id="5" name="Picture 4">
            <a:extLst>
              <a:ext uri="{FF2B5EF4-FFF2-40B4-BE49-F238E27FC236}">
                <a16:creationId xmlns:a16="http://schemas.microsoft.com/office/drawing/2014/main" id="{2C96894C-3AEF-15EB-2E2C-1B02ACDF7C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4295"/>
            <a:ext cx="1665512" cy="1107570"/>
          </a:xfrm>
          <a:prstGeom prst="rect">
            <a:avLst/>
          </a:prstGeom>
        </p:spPr>
      </p:pic>
    </p:spTree>
    <p:extLst>
      <p:ext uri="{BB962C8B-B14F-4D97-AF65-F5344CB8AC3E}">
        <p14:creationId xmlns:p14="http://schemas.microsoft.com/office/powerpoint/2010/main" val="37861091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79F48547-A208-CE92-9794-40448EE6288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CC90CDA-972B-92A4-DA72-5768CA0A97DF}"/>
              </a:ext>
            </a:extLst>
          </p:cNvPr>
          <p:cNvSpPr txBox="1"/>
          <p:nvPr/>
        </p:nvSpPr>
        <p:spPr>
          <a:xfrm>
            <a:off x="1857983" y="262647"/>
            <a:ext cx="8249055" cy="461665"/>
          </a:xfrm>
          <a:prstGeom prst="rect">
            <a:avLst/>
          </a:prstGeom>
          <a:solidFill>
            <a:schemeClr val="bg1"/>
          </a:solidFill>
        </p:spPr>
        <p:txBody>
          <a:bodyPr wrap="square" rtlCol="0">
            <a:spAutoFit/>
          </a:bodyPr>
          <a:lstStyle/>
          <a:p>
            <a:pPr algn="ctr"/>
            <a:r>
              <a:rPr lang="en-US" sz="2400" dirty="0" err="1"/>
              <a:t>Taskes</a:t>
            </a:r>
            <a:r>
              <a:rPr lang="en-US" sz="2400" dirty="0"/>
              <a:t> </a:t>
            </a:r>
            <a:r>
              <a:rPr lang="en-US" sz="2400" dirty="0" err="1"/>
              <a:t>sql</a:t>
            </a:r>
            <a:endParaRPr lang="en-IN" sz="2400" dirty="0"/>
          </a:p>
        </p:txBody>
      </p:sp>
      <p:sp>
        <p:nvSpPr>
          <p:cNvPr id="3" name="TextBox 2">
            <a:extLst>
              <a:ext uri="{FF2B5EF4-FFF2-40B4-BE49-F238E27FC236}">
                <a16:creationId xmlns:a16="http://schemas.microsoft.com/office/drawing/2014/main" id="{52D4C316-59AA-662D-1025-29ECC0090E9C}"/>
              </a:ext>
            </a:extLst>
          </p:cNvPr>
          <p:cNvSpPr txBox="1"/>
          <p:nvPr/>
        </p:nvSpPr>
        <p:spPr>
          <a:xfrm>
            <a:off x="1225685" y="1313234"/>
            <a:ext cx="10116766" cy="4678204"/>
          </a:xfrm>
          <a:prstGeom prst="rect">
            <a:avLst/>
          </a:prstGeom>
          <a:solidFill>
            <a:schemeClr val="bg1"/>
          </a:solidFill>
        </p:spPr>
        <p:txBody>
          <a:bodyPr wrap="square" rtlCol="0">
            <a:spAutoFit/>
          </a:bodyPr>
          <a:lstStyle/>
          <a:p>
            <a:pPr lvl="0"/>
            <a:r>
              <a:rPr lang="en-IN" sz="2800" dirty="0"/>
              <a:t>1.How is the shopping distribution according to gender?</a:t>
            </a:r>
          </a:p>
          <a:p>
            <a:pPr lvl="0"/>
            <a:r>
              <a:rPr lang="en-IN" sz="2800" dirty="0"/>
              <a:t>2.Which gender did we sell more products to?</a:t>
            </a:r>
          </a:p>
          <a:p>
            <a:pPr lvl="0"/>
            <a:r>
              <a:rPr lang="en-IN" sz="2800" dirty="0"/>
              <a:t>3.Which gender generated more revenue?</a:t>
            </a:r>
          </a:p>
          <a:p>
            <a:pPr lvl="0"/>
            <a:r>
              <a:rPr lang="en-IN" sz="2800" dirty="0"/>
              <a:t>4.Distribution of purchase categories relative to other columns?</a:t>
            </a:r>
          </a:p>
          <a:p>
            <a:pPr lvl="0"/>
            <a:r>
              <a:rPr lang="en-IN" sz="2800" dirty="0"/>
              <a:t>5.How is the shopping distribution according to age?</a:t>
            </a:r>
          </a:p>
          <a:p>
            <a:pPr lvl="0"/>
            <a:r>
              <a:rPr lang="en-IN" sz="2800" dirty="0"/>
              <a:t>6.Which age cat did we sell more products to?</a:t>
            </a:r>
          </a:p>
          <a:p>
            <a:pPr lvl="0"/>
            <a:r>
              <a:rPr lang="en-IN" sz="2800" dirty="0"/>
              <a:t>7.Which age cat generated more revenue?</a:t>
            </a:r>
          </a:p>
          <a:p>
            <a:pPr lvl="0"/>
            <a:r>
              <a:rPr lang="en-IN" sz="2800" dirty="0"/>
              <a:t>8.Distribution of purchase categories relative to other columns?</a:t>
            </a:r>
          </a:p>
          <a:p>
            <a:pPr lvl="0"/>
            <a:r>
              <a:rPr lang="en-IN" sz="2800" dirty="0"/>
              <a:t>9.Does the payment method have a relation with other columns?</a:t>
            </a:r>
          </a:p>
          <a:p>
            <a:pPr lvl="0"/>
            <a:r>
              <a:rPr lang="en-IN" sz="2800" dirty="0"/>
              <a:t>10.How is the distribution of the payment method?</a:t>
            </a:r>
          </a:p>
          <a:p>
            <a:endParaRPr lang="en-IN" dirty="0"/>
          </a:p>
        </p:txBody>
      </p:sp>
      <p:pic>
        <p:nvPicPr>
          <p:cNvPr id="4" name="Picture 3">
            <a:extLst>
              <a:ext uri="{FF2B5EF4-FFF2-40B4-BE49-F238E27FC236}">
                <a16:creationId xmlns:a16="http://schemas.microsoft.com/office/drawing/2014/main" id="{CBB31A25-E85F-21E5-C30B-A2AEA4EC76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41144" y="0"/>
            <a:ext cx="1665512" cy="1107570"/>
          </a:xfrm>
          <a:prstGeom prst="rect">
            <a:avLst/>
          </a:prstGeom>
        </p:spPr>
      </p:pic>
      <p:pic>
        <p:nvPicPr>
          <p:cNvPr id="5" name="Picture 4">
            <a:extLst>
              <a:ext uri="{FF2B5EF4-FFF2-40B4-BE49-F238E27FC236}">
                <a16:creationId xmlns:a16="http://schemas.microsoft.com/office/drawing/2014/main" id="{4459B549-2C4E-2C96-9DE9-9F75AC80F9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84151" y="724312"/>
            <a:ext cx="1049866" cy="588922"/>
          </a:xfrm>
          <a:prstGeom prst="rect">
            <a:avLst/>
          </a:prstGeom>
        </p:spPr>
      </p:pic>
    </p:spTree>
    <p:extLst>
      <p:ext uri="{BB962C8B-B14F-4D97-AF65-F5344CB8AC3E}">
        <p14:creationId xmlns:p14="http://schemas.microsoft.com/office/powerpoint/2010/main" val="30224642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C1CC0D6C-3C42-B511-9A3C-45626447D45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16D1A10-3E10-4482-FD83-186131F8E7C2}"/>
              </a:ext>
            </a:extLst>
          </p:cNvPr>
          <p:cNvSpPr txBox="1"/>
          <p:nvPr/>
        </p:nvSpPr>
        <p:spPr>
          <a:xfrm rot="10800000" flipV="1">
            <a:off x="1575881" y="118885"/>
            <a:ext cx="8638161" cy="461665"/>
          </a:xfrm>
          <a:prstGeom prst="rect">
            <a:avLst/>
          </a:prstGeom>
          <a:solidFill>
            <a:schemeClr val="bg1"/>
          </a:solidFill>
        </p:spPr>
        <p:txBody>
          <a:bodyPr wrap="square" rtlCol="0">
            <a:spAutoFit/>
          </a:bodyPr>
          <a:lstStyle/>
          <a:p>
            <a:pPr algn="ctr"/>
            <a:r>
              <a:rPr lang="en-US" sz="2400" b="1" dirty="0" err="1"/>
              <a:t>DataCleaning</a:t>
            </a:r>
            <a:endParaRPr lang="en-IN" sz="2400" b="1" dirty="0"/>
          </a:p>
        </p:txBody>
      </p:sp>
      <p:sp>
        <p:nvSpPr>
          <p:cNvPr id="4" name="TextBox 3">
            <a:extLst>
              <a:ext uri="{FF2B5EF4-FFF2-40B4-BE49-F238E27FC236}">
                <a16:creationId xmlns:a16="http://schemas.microsoft.com/office/drawing/2014/main" id="{DDCB0FFF-4A76-0E00-11A3-3A4AA9D8D0F1}"/>
              </a:ext>
            </a:extLst>
          </p:cNvPr>
          <p:cNvSpPr txBox="1"/>
          <p:nvPr/>
        </p:nvSpPr>
        <p:spPr>
          <a:xfrm>
            <a:off x="1410511" y="1468878"/>
            <a:ext cx="8968902" cy="4124206"/>
          </a:xfrm>
          <a:prstGeom prst="rect">
            <a:avLst/>
          </a:prstGeom>
          <a:solidFill>
            <a:schemeClr val="bg1"/>
          </a:solidFill>
        </p:spPr>
        <p:txBody>
          <a:bodyPr wrap="square" rtlCol="0">
            <a:spAutoFit/>
          </a:bodyPr>
          <a:lstStyle/>
          <a:p>
            <a:r>
              <a:rPr lang="en-US" b="1" u="sng" dirty="0"/>
              <a:t>Mention:-</a:t>
            </a:r>
          </a:p>
          <a:p>
            <a:r>
              <a:rPr lang="en-US" dirty="0"/>
              <a:t>Checked NULL values using IS NULL</a:t>
            </a:r>
          </a:p>
          <a:p>
            <a:r>
              <a:rPr lang="en-US" dirty="0"/>
              <a:t>Checked duplicates using GROUP BY + HAVING COUNT(*)</a:t>
            </a:r>
          </a:p>
          <a:p>
            <a:r>
              <a:rPr lang="en-US" dirty="0"/>
              <a:t>Verified data consistency</a:t>
            </a:r>
          </a:p>
          <a:p>
            <a:r>
              <a:rPr lang="en-US" dirty="0"/>
              <a:t>Validated date formats</a:t>
            </a:r>
          </a:p>
          <a:p>
            <a:endParaRPr lang="en-US" dirty="0"/>
          </a:p>
          <a:p>
            <a:endParaRPr lang="en-US" dirty="0"/>
          </a:p>
          <a:p>
            <a:r>
              <a:rPr lang="en-US" sz="2000" b="1" dirty="0"/>
              <a:t>During the data cleaning process, I verified the dataset for null values and duplicate records using SQL queries. I also validated the data types and created age group categories using CASE statements for segmentation analysis. The dataset was clean and ready for analysis.</a:t>
            </a:r>
          </a:p>
          <a:p>
            <a:endParaRPr lang="en-US" sz="2000" b="1" dirty="0"/>
          </a:p>
          <a:p>
            <a:endParaRPr lang="en-US" dirty="0"/>
          </a:p>
          <a:p>
            <a:endParaRPr lang="en-IN" dirty="0"/>
          </a:p>
        </p:txBody>
      </p:sp>
      <p:pic>
        <p:nvPicPr>
          <p:cNvPr id="5" name="Picture 4">
            <a:extLst>
              <a:ext uri="{FF2B5EF4-FFF2-40B4-BE49-F238E27FC236}">
                <a16:creationId xmlns:a16="http://schemas.microsoft.com/office/drawing/2014/main" id="{D1E65EA2-24FA-744D-BA23-B859FDFE15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3833" y="157346"/>
            <a:ext cx="1130490" cy="1107570"/>
          </a:xfrm>
          <a:prstGeom prst="rect">
            <a:avLst/>
          </a:prstGeom>
        </p:spPr>
      </p:pic>
      <p:pic>
        <p:nvPicPr>
          <p:cNvPr id="6" name="Picture 5">
            <a:extLst>
              <a:ext uri="{FF2B5EF4-FFF2-40B4-BE49-F238E27FC236}">
                <a16:creationId xmlns:a16="http://schemas.microsoft.com/office/drawing/2014/main" id="{255CA927-8594-444F-B572-855520D768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53949" y="184828"/>
            <a:ext cx="1049866" cy="636286"/>
          </a:xfrm>
          <a:prstGeom prst="rect">
            <a:avLst/>
          </a:prstGeom>
        </p:spPr>
      </p:pic>
      <p:pic>
        <p:nvPicPr>
          <p:cNvPr id="7" name="Picture 6">
            <a:extLst>
              <a:ext uri="{FF2B5EF4-FFF2-40B4-BE49-F238E27FC236}">
                <a16:creationId xmlns:a16="http://schemas.microsoft.com/office/drawing/2014/main" id="{D49754D5-05C5-3BE4-046C-2BAF5B7C2C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14230" y="706571"/>
            <a:ext cx="1049866" cy="636286"/>
          </a:xfrm>
          <a:prstGeom prst="rect">
            <a:avLst/>
          </a:prstGeom>
        </p:spPr>
      </p:pic>
    </p:spTree>
    <p:extLst>
      <p:ext uri="{BB962C8B-B14F-4D97-AF65-F5344CB8AC3E}">
        <p14:creationId xmlns:p14="http://schemas.microsoft.com/office/powerpoint/2010/main" val="40867622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A785DE6A-86C6-3ADA-A520-9FB7012C06E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7E6B331-2965-A180-AC73-6AF85621528F}"/>
              </a:ext>
            </a:extLst>
          </p:cNvPr>
          <p:cNvSpPr txBox="1"/>
          <p:nvPr/>
        </p:nvSpPr>
        <p:spPr>
          <a:xfrm>
            <a:off x="1828801" y="136188"/>
            <a:ext cx="8307420" cy="923330"/>
          </a:xfrm>
          <a:prstGeom prst="rect">
            <a:avLst/>
          </a:prstGeom>
          <a:solidFill>
            <a:schemeClr val="bg1"/>
          </a:solidFill>
        </p:spPr>
        <p:txBody>
          <a:bodyPr wrap="square" rtlCol="0">
            <a:spAutoFit/>
          </a:bodyPr>
          <a:lstStyle/>
          <a:p>
            <a:pPr algn="ctr"/>
            <a:r>
              <a:rPr lang="en-US" b="1" dirty="0" err="1"/>
              <a:t>Sql</a:t>
            </a:r>
            <a:r>
              <a:rPr lang="en-US" b="1" dirty="0"/>
              <a:t> </a:t>
            </a:r>
            <a:r>
              <a:rPr lang="en-US" b="1" dirty="0" err="1"/>
              <a:t>queshions</a:t>
            </a:r>
            <a:r>
              <a:rPr lang="en-US" b="1" dirty="0"/>
              <a:t>:-</a:t>
            </a:r>
          </a:p>
          <a:p>
            <a:pPr algn="ctr"/>
            <a:r>
              <a:rPr lang="en-US" dirty="0"/>
              <a:t>1.</a:t>
            </a:r>
            <a:r>
              <a:rPr lang="en-IN" dirty="0"/>
              <a:t> How is the shopping distribution according to gender?</a:t>
            </a:r>
          </a:p>
          <a:p>
            <a:endParaRPr lang="en-IN" dirty="0"/>
          </a:p>
        </p:txBody>
      </p:sp>
      <p:sp>
        <p:nvSpPr>
          <p:cNvPr id="4" name="TextBox 3">
            <a:extLst>
              <a:ext uri="{FF2B5EF4-FFF2-40B4-BE49-F238E27FC236}">
                <a16:creationId xmlns:a16="http://schemas.microsoft.com/office/drawing/2014/main" id="{2E4A476F-5F9F-2004-99FC-13F4375B39E7}"/>
              </a:ext>
            </a:extLst>
          </p:cNvPr>
          <p:cNvSpPr txBox="1"/>
          <p:nvPr/>
        </p:nvSpPr>
        <p:spPr>
          <a:xfrm>
            <a:off x="583660" y="1702340"/>
            <a:ext cx="10437778" cy="2937754"/>
          </a:xfrm>
          <a:prstGeom prst="rect">
            <a:avLst/>
          </a:prstGeom>
          <a:solidFill>
            <a:schemeClr val="bg1"/>
          </a:solidFill>
        </p:spPr>
        <p:txBody>
          <a:bodyPr wrap="square" rtlCol="0">
            <a:spAutoFit/>
          </a:bodyPr>
          <a:lstStyle/>
          <a:p>
            <a:endParaRPr lang="en-IN" dirty="0"/>
          </a:p>
        </p:txBody>
      </p:sp>
      <p:pic>
        <p:nvPicPr>
          <p:cNvPr id="5" name="Picture 4">
            <a:extLst>
              <a:ext uri="{FF2B5EF4-FFF2-40B4-BE49-F238E27FC236}">
                <a16:creationId xmlns:a16="http://schemas.microsoft.com/office/drawing/2014/main" id="{86CBD55B-4B65-A462-2638-9597DDBBC4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1135" y="1866074"/>
            <a:ext cx="5201376" cy="1686160"/>
          </a:xfrm>
          <a:prstGeom prst="rect">
            <a:avLst/>
          </a:prstGeom>
        </p:spPr>
      </p:pic>
      <p:pic>
        <p:nvPicPr>
          <p:cNvPr id="9" name="Picture 8">
            <a:extLst>
              <a:ext uri="{FF2B5EF4-FFF2-40B4-BE49-F238E27FC236}">
                <a16:creationId xmlns:a16="http://schemas.microsoft.com/office/drawing/2014/main" id="{B6714FDC-999B-5196-5210-C43DCC37F8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75280" y="3429000"/>
            <a:ext cx="3029409" cy="867926"/>
          </a:xfrm>
          <a:prstGeom prst="rect">
            <a:avLst/>
          </a:prstGeom>
        </p:spPr>
      </p:pic>
      <p:pic>
        <p:nvPicPr>
          <p:cNvPr id="11" name="Picture 10">
            <a:extLst>
              <a:ext uri="{FF2B5EF4-FFF2-40B4-BE49-F238E27FC236}">
                <a16:creationId xmlns:a16="http://schemas.microsoft.com/office/drawing/2014/main" id="{204D85F8-6F18-B648-EBD3-FF6D18794B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20647" y="1809524"/>
            <a:ext cx="3664180" cy="2324731"/>
          </a:xfrm>
          <a:prstGeom prst="rect">
            <a:avLst/>
          </a:prstGeom>
        </p:spPr>
      </p:pic>
      <p:sp>
        <p:nvSpPr>
          <p:cNvPr id="12" name="TextBox 11">
            <a:extLst>
              <a:ext uri="{FF2B5EF4-FFF2-40B4-BE49-F238E27FC236}">
                <a16:creationId xmlns:a16="http://schemas.microsoft.com/office/drawing/2014/main" id="{DBD500EA-133E-E1E1-A35E-404236EE9E92}"/>
              </a:ext>
            </a:extLst>
          </p:cNvPr>
          <p:cNvSpPr txBox="1"/>
          <p:nvPr/>
        </p:nvSpPr>
        <p:spPr>
          <a:xfrm>
            <a:off x="583660" y="4803828"/>
            <a:ext cx="10544783" cy="1200329"/>
          </a:xfrm>
          <a:prstGeom prst="rect">
            <a:avLst/>
          </a:prstGeom>
          <a:solidFill>
            <a:schemeClr val="bg1"/>
          </a:solidFill>
        </p:spPr>
        <p:txBody>
          <a:bodyPr wrap="square" rtlCol="0">
            <a:spAutoFit/>
          </a:bodyPr>
          <a:lstStyle/>
          <a:p>
            <a:r>
              <a:rPr lang="en-US" b="1" dirty="0"/>
              <a:t>Insights:-</a:t>
            </a:r>
          </a:p>
          <a:p>
            <a:r>
              <a:rPr lang="en-US" dirty="0"/>
              <a:t>The gender-based analysis shows that female customers contribute approximately 60% of total transactions, while male customers contribute around 40%. This indicates higher purchase frequency and stronger engagement among female shoppers.</a:t>
            </a:r>
            <a:endParaRPr lang="en-IN" dirty="0"/>
          </a:p>
        </p:txBody>
      </p:sp>
      <p:pic>
        <p:nvPicPr>
          <p:cNvPr id="13" name="Picture 12">
            <a:extLst>
              <a:ext uri="{FF2B5EF4-FFF2-40B4-BE49-F238E27FC236}">
                <a16:creationId xmlns:a16="http://schemas.microsoft.com/office/drawing/2014/main" id="{BAD2406F-58A0-ED56-821E-0DE7B837D51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224429"/>
            <a:ext cx="1665512" cy="1107570"/>
          </a:xfrm>
          <a:prstGeom prst="rect">
            <a:avLst/>
          </a:prstGeom>
        </p:spPr>
      </p:pic>
      <p:pic>
        <p:nvPicPr>
          <p:cNvPr id="14" name="Picture 13">
            <a:extLst>
              <a:ext uri="{FF2B5EF4-FFF2-40B4-BE49-F238E27FC236}">
                <a16:creationId xmlns:a16="http://schemas.microsoft.com/office/drawing/2014/main" id="{BF363861-EFB2-9B5A-8A2B-510CE76105D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653949" y="184828"/>
            <a:ext cx="1049866" cy="636286"/>
          </a:xfrm>
          <a:prstGeom prst="rect">
            <a:avLst/>
          </a:prstGeom>
        </p:spPr>
      </p:pic>
      <p:pic>
        <p:nvPicPr>
          <p:cNvPr id="15" name="Picture 14">
            <a:extLst>
              <a:ext uri="{FF2B5EF4-FFF2-40B4-BE49-F238E27FC236}">
                <a16:creationId xmlns:a16="http://schemas.microsoft.com/office/drawing/2014/main" id="{0B422F4C-F343-2216-8C7D-D4880A5E234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487252" y="1079604"/>
            <a:ext cx="1049866" cy="636286"/>
          </a:xfrm>
          <a:prstGeom prst="rect">
            <a:avLst/>
          </a:prstGeom>
        </p:spPr>
      </p:pic>
    </p:spTree>
    <p:extLst>
      <p:ext uri="{BB962C8B-B14F-4D97-AF65-F5344CB8AC3E}">
        <p14:creationId xmlns:p14="http://schemas.microsoft.com/office/powerpoint/2010/main" val="41760627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973F279D-DDF5-4870-44AC-D7B529BF955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FDA86C3-57FE-C2BE-8900-EC01E8BC9292}"/>
              </a:ext>
            </a:extLst>
          </p:cNvPr>
          <p:cNvSpPr txBox="1"/>
          <p:nvPr/>
        </p:nvSpPr>
        <p:spPr>
          <a:xfrm>
            <a:off x="1118681" y="126460"/>
            <a:ext cx="9262353" cy="646331"/>
          </a:xfrm>
          <a:prstGeom prst="rect">
            <a:avLst/>
          </a:prstGeom>
          <a:solidFill>
            <a:schemeClr val="bg1"/>
          </a:solidFill>
        </p:spPr>
        <p:txBody>
          <a:bodyPr wrap="square" rtlCol="0">
            <a:spAutoFit/>
          </a:bodyPr>
          <a:lstStyle/>
          <a:p>
            <a:pPr algn="ctr"/>
            <a:r>
              <a:rPr lang="en-US" b="1" dirty="0"/>
              <a:t>2.</a:t>
            </a:r>
            <a:r>
              <a:rPr lang="en-IN" b="1" dirty="0"/>
              <a:t> Which gender did we sale more product to?</a:t>
            </a:r>
          </a:p>
          <a:p>
            <a:endParaRPr lang="en-IN" dirty="0"/>
          </a:p>
        </p:txBody>
      </p:sp>
      <p:sp>
        <p:nvSpPr>
          <p:cNvPr id="4" name="TextBox 3">
            <a:extLst>
              <a:ext uri="{FF2B5EF4-FFF2-40B4-BE49-F238E27FC236}">
                <a16:creationId xmlns:a16="http://schemas.microsoft.com/office/drawing/2014/main" id="{C65F2CD7-4050-DA44-046A-66B392138F92}"/>
              </a:ext>
            </a:extLst>
          </p:cNvPr>
          <p:cNvSpPr txBox="1"/>
          <p:nvPr/>
        </p:nvSpPr>
        <p:spPr>
          <a:xfrm>
            <a:off x="408562" y="1011678"/>
            <a:ext cx="11061981" cy="4056434"/>
          </a:xfrm>
          <a:prstGeom prst="rect">
            <a:avLst/>
          </a:prstGeom>
          <a:solidFill>
            <a:schemeClr val="bg1"/>
          </a:solidFill>
        </p:spPr>
        <p:txBody>
          <a:bodyPr wrap="square" rtlCol="0">
            <a:spAutoFit/>
          </a:bodyPr>
          <a:lstStyle/>
          <a:p>
            <a:endParaRPr lang="en-IN" dirty="0"/>
          </a:p>
        </p:txBody>
      </p:sp>
      <p:pic>
        <p:nvPicPr>
          <p:cNvPr id="5" name="Picture 4">
            <a:extLst>
              <a:ext uri="{FF2B5EF4-FFF2-40B4-BE49-F238E27FC236}">
                <a16:creationId xmlns:a16="http://schemas.microsoft.com/office/drawing/2014/main" id="{E47A8846-950C-E105-8501-D0CB5682E3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7993" y="1128409"/>
            <a:ext cx="5982535" cy="1838582"/>
          </a:xfrm>
          <a:prstGeom prst="rect">
            <a:avLst/>
          </a:prstGeom>
        </p:spPr>
      </p:pic>
      <p:pic>
        <p:nvPicPr>
          <p:cNvPr id="7" name="Picture 6">
            <a:extLst>
              <a:ext uri="{FF2B5EF4-FFF2-40B4-BE49-F238E27FC236}">
                <a16:creationId xmlns:a16="http://schemas.microsoft.com/office/drawing/2014/main" id="{E057AC89-FE21-CA2B-9D14-E180DAC96C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96502" y="3304181"/>
            <a:ext cx="2882630" cy="1173657"/>
          </a:xfrm>
          <a:prstGeom prst="rect">
            <a:avLst/>
          </a:prstGeom>
        </p:spPr>
      </p:pic>
      <p:pic>
        <p:nvPicPr>
          <p:cNvPr id="9" name="Picture 8">
            <a:extLst>
              <a:ext uri="{FF2B5EF4-FFF2-40B4-BE49-F238E27FC236}">
                <a16:creationId xmlns:a16="http://schemas.microsoft.com/office/drawing/2014/main" id="{D784FB78-EBF8-6C40-725B-AAD2EC32878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80995" y="1128409"/>
            <a:ext cx="3900792" cy="2376814"/>
          </a:xfrm>
          <a:prstGeom prst="rect">
            <a:avLst/>
          </a:prstGeom>
        </p:spPr>
      </p:pic>
      <p:sp>
        <p:nvSpPr>
          <p:cNvPr id="11" name="TextBox 10">
            <a:extLst>
              <a:ext uri="{FF2B5EF4-FFF2-40B4-BE49-F238E27FC236}">
                <a16:creationId xmlns:a16="http://schemas.microsoft.com/office/drawing/2014/main" id="{BD9A1076-E34D-D735-8F60-19DDB9D79884}"/>
              </a:ext>
            </a:extLst>
          </p:cNvPr>
          <p:cNvSpPr txBox="1"/>
          <p:nvPr/>
        </p:nvSpPr>
        <p:spPr>
          <a:xfrm flipH="1">
            <a:off x="632298" y="5249671"/>
            <a:ext cx="10838244" cy="1477328"/>
          </a:xfrm>
          <a:prstGeom prst="rect">
            <a:avLst/>
          </a:prstGeom>
          <a:solidFill>
            <a:schemeClr val="bg1"/>
          </a:solidFill>
        </p:spPr>
        <p:txBody>
          <a:bodyPr wrap="square" rtlCol="0">
            <a:spAutoFit/>
          </a:bodyPr>
          <a:lstStyle/>
          <a:p>
            <a:r>
              <a:rPr lang="en-US" b="1" dirty="0"/>
              <a:t>Insights:-</a:t>
            </a:r>
          </a:p>
          <a:p>
            <a:r>
              <a:rPr lang="en-US" dirty="0"/>
              <a:t>The gender-based analysis shows that female customers contribute approximately 60% of total transactions, while male customers contribute around 40%. This indicates higher purchase frequency and stronger engagement among female shoppers.</a:t>
            </a:r>
            <a:endParaRPr lang="en-IN" dirty="0"/>
          </a:p>
          <a:p>
            <a:endParaRPr lang="en-IN" dirty="0"/>
          </a:p>
        </p:txBody>
      </p:sp>
      <p:pic>
        <p:nvPicPr>
          <p:cNvPr id="12" name="Picture 11">
            <a:extLst>
              <a:ext uri="{FF2B5EF4-FFF2-40B4-BE49-F238E27FC236}">
                <a16:creationId xmlns:a16="http://schemas.microsoft.com/office/drawing/2014/main" id="{0D18CEF5-ECD3-E208-22C2-304145E22C9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26488" y="126460"/>
            <a:ext cx="1234252" cy="703659"/>
          </a:xfrm>
          <a:prstGeom prst="rect">
            <a:avLst/>
          </a:prstGeom>
        </p:spPr>
      </p:pic>
    </p:spTree>
    <p:extLst>
      <p:ext uri="{BB962C8B-B14F-4D97-AF65-F5344CB8AC3E}">
        <p14:creationId xmlns:p14="http://schemas.microsoft.com/office/powerpoint/2010/main" val="1241828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A8C60A39-498B-6308-48CB-E6DCDE88B49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B0FD2E1-3158-E374-03DB-C119F1D5E9F0}"/>
              </a:ext>
            </a:extLst>
          </p:cNvPr>
          <p:cNvSpPr txBox="1"/>
          <p:nvPr/>
        </p:nvSpPr>
        <p:spPr>
          <a:xfrm>
            <a:off x="1828801" y="136188"/>
            <a:ext cx="8307420" cy="369332"/>
          </a:xfrm>
          <a:prstGeom prst="rect">
            <a:avLst/>
          </a:prstGeom>
          <a:solidFill>
            <a:schemeClr val="bg1"/>
          </a:solidFill>
        </p:spPr>
        <p:txBody>
          <a:bodyPr wrap="square" rtlCol="0">
            <a:spAutoFit/>
          </a:bodyPr>
          <a:lstStyle/>
          <a:p>
            <a:pPr algn="ctr"/>
            <a:r>
              <a:rPr lang="en-US" b="1" dirty="0"/>
              <a:t>3. Which gender generates more revenue?</a:t>
            </a:r>
            <a:endParaRPr lang="en-IN" b="1" dirty="0"/>
          </a:p>
        </p:txBody>
      </p:sp>
      <p:sp>
        <p:nvSpPr>
          <p:cNvPr id="4" name="TextBox 3">
            <a:extLst>
              <a:ext uri="{FF2B5EF4-FFF2-40B4-BE49-F238E27FC236}">
                <a16:creationId xmlns:a16="http://schemas.microsoft.com/office/drawing/2014/main" id="{DF490CC1-A0CE-47FA-7356-0E9717137AC4}"/>
              </a:ext>
            </a:extLst>
          </p:cNvPr>
          <p:cNvSpPr txBox="1"/>
          <p:nvPr/>
        </p:nvSpPr>
        <p:spPr>
          <a:xfrm>
            <a:off x="311286" y="690663"/>
            <a:ext cx="11196536" cy="3414409"/>
          </a:xfrm>
          <a:prstGeom prst="rect">
            <a:avLst/>
          </a:prstGeom>
          <a:solidFill>
            <a:schemeClr val="bg1"/>
          </a:solidFill>
        </p:spPr>
        <p:txBody>
          <a:bodyPr wrap="square" rtlCol="0">
            <a:spAutoFit/>
          </a:bodyPr>
          <a:lstStyle/>
          <a:p>
            <a:endParaRPr lang="en-IN" dirty="0"/>
          </a:p>
        </p:txBody>
      </p:sp>
      <p:pic>
        <p:nvPicPr>
          <p:cNvPr id="6" name="Picture 5">
            <a:extLst>
              <a:ext uri="{FF2B5EF4-FFF2-40B4-BE49-F238E27FC236}">
                <a16:creationId xmlns:a16="http://schemas.microsoft.com/office/drawing/2014/main" id="{3F92444B-998B-E0E0-1E48-727D463C8F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7446" y="924233"/>
            <a:ext cx="4277322" cy="1390844"/>
          </a:xfrm>
          <a:prstGeom prst="rect">
            <a:avLst/>
          </a:prstGeom>
        </p:spPr>
      </p:pic>
      <p:pic>
        <p:nvPicPr>
          <p:cNvPr id="8" name="Picture 7">
            <a:extLst>
              <a:ext uri="{FF2B5EF4-FFF2-40B4-BE49-F238E27FC236}">
                <a16:creationId xmlns:a16="http://schemas.microsoft.com/office/drawing/2014/main" id="{D575ADEE-A61F-7F05-5313-BFB7F27F3A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79306" y="1876866"/>
            <a:ext cx="3575971" cy="1216530"/>
          </a:xfrm>
          <a:prstGeom prst="rect">
            <a:avLst/>
          </a:prstGeom>
        </p:spPr>
      </p:pic>
      <p:pic>
        <p:nvPicPr>
          <p:cNvPr id="10" name="Picture 9">
            <a:extLst>
              <a:ext uri="{FF2B5EF4-FFF2-40B4-BE49-F238E27FC236}">
                <a16:creationId xmlns:a16="http://schemas.microsoft.com/office/drawing/2014/main" id="{5AAA850D-DD65-363C-46E0-A92D41CD3C9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22453" y="924233"/>
            <a:ext cx="3480697" cy="2991267"/>
          </a:xfrm>
          <a:prstGeom prst="rect">
            <a:avLst/>
          </a:prstGeom>
        </p:spPr>
      </p:pic>
      <p:pic>
        <p:nvPicPr>
          <p:cNvPr id="12" name="Picture 11">
            <a:extLst>
              <a:ext uri="{FF2B5EF4-FFF2-40B4-BE49-F238E27FC236}">
                <a16:creationId xmlns:a16="http://schemas.microsoft.com/office/drawing/2014/main" id="{CBDF74DC-1A57-D400-B808-46C8B577885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1286" y="4279599"/>
            <a:ext cx="11303540" cy="2463589"/>
          </a:xfrm>
          <a:prstGeom prst="rect">
            <a:avLst/>
          </a:prstGeom>
        </p:spPr>
      </p:pic>
      <p:pic>
        <p:nvPicPr>
          <p:cNvPr id="13" name="Picture 12">
            <a:extLst>
              <a:ext uri="{FF2B5EF4-FFF2-40B4-BE49-F238E27FC236}">
                <a16:creationId xmlns:a16="http://schemas.microsoft.com/office/drawing/2014/main" id="{D6F71633-075F-675A-4950-FB22145FB29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 y="-1"/>
            <a:ext cx="904672" cy="505521"/>
          </a:xfrm>
          <a:prstGeom prst="rect">
            <a:avLst/>
          </a:prstGeom>
        </p:spPr>
      </p:pic>
      <p:pic>
        <p:nvPicPr>
          <p:cNvPr id="14" name="Picture 13">
            <a:extLst>
              <a:ext uri="{FF2B5EF4-FFF2-40B4-BE49-F238E27FC236}">
                <a16:creationId xmlns:a16="http://schemas.microsoft.com/office/drawing/2014/main" id="{8861F686-08B0-CF58-E798-1698A9A5510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17123" y="54377"/>
            <a:ext cx="904672" cy="461759"/>
          </a:xfrm>
          <a:prstGeom prst="rect">
            <a:avLst/>
          </a:prstGeom>
        </p:spPr>
      </p:pic>
      <p:pic>
        <p:nvPicPr>
          <p:cNvPr id="15" name="Picture 14">
            <a:extLst>
              <a:ext uri="{FF2B5EF4-FFF2-40B4-BE49-F238E27FC236}">
                <a16:creationId xmlns:a16="http://schemas.microsoft.com/office/drawing/2014/main" id="{31DF046B-0C23-E2F6-C3D8-E26392AFF32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849944" y="3154"/>
            <a:ext cx="1049866" cy="636286"/>
          </a:xfrm>
          <a:prstGeom prst="rect">
            <a:avLst/>
          </a:prstGeom>
        </p:spPr>
      </p:pic>
    </p:spTree>
    <p:extLst>
      <p:ext uri="{BB962C8B-B14F-4D97-AF65-F5344CB8AC3E}">
        <p14:creationId xmlns:p14="http://schemas.microsoft.com/office/powerpoint/2010/main" val="2923636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C842D05-89A1-7CE3-11F3-A65FE27DD1CF}"/>
              </a:ext>
            </a:extLst>
          </p:cNvPr>
          <p:cNvSpPr txBox="1"/>
          <p:nvPr/>
        </p:nvSpPr>
        <p:spPr>
          <a:xfrm>
            <a:off x="1789889" y="194553"/>
            <a:ext cx="7811311" cy="369332"/>
          </a:xfrm>
          <a:prstGeom prst="rect">
            <a:avLst/>
          </a:prstGeom>
          <a:solidFill>
            <a:schemeClr val="bg1"/>
          </a:solidFill>
        </p:spPr>
        <p:txBody>
          <a:bodyPr wrap="square" rtlCol="0">
            <a:spAutoFit/>
          </a:bodyPr>
          <a:lstStyle/>
          <a:p>
            <a:pPr algn="ctr"/>
            <a:r>
              <a:rPr lang="en-US" dirty="0"/>
              <a:t>4.</a:t>
            </a:r>
            <a:r>
              <a:rPr lang="en-IN" dirty="0"/>
              <a:t> </a:t>
            </a:r>
            <a:r>
              <a:rPr lang="en-IN" b="1" dirty="0"/>
              <a:t>Distribution of purchase categories relative to other columns?</a:t>
            </a:r>
          </a:p>
        </p:txBody>
      </p:sp>
      <p:sp>
        <p:nvSpPr>
          <p:cNvPr id="3" name="TextBox 2">
            <a:extLst>
              <a:ext uri="{FF2B5EF4-FFF2-40B4-BE49-F238E27FC236}">
                <a16:creationId xmlns:a16="http://schemas.microsoft.com/office/drawing/2014/main" id="{25EEE807-1F8C-18D6-9E77-3A5011E94D83}"/>
              </a:ext>
            </a:extLst>
          </p:cNvPr>
          <p:cNvSpPr txBox="1"/>
          <p:nvPr/>
        </p:nvSpPr>
        <p:spPr>
          <a:xfrm>
            <a:off x="612843" y="1089498"/>
            <a:ext cx="11089530" cy="2704289"/>
          </a:xfrm>
          <a:prstGeom prst="rect">
            <a:avLst/>
          </a:prstGeom>
          <a:solidFill>
            <a:schemeClr val="bg1"/>
          </a:solidFill>
        </p:spPr>
        <p:txBody>
          <a:bodyPr wrap="square" rtlCol="0">
            <a:spAutoFit/>
          </a:bodyPr>
          <a:lstStyle/>
          <a:p>
            <a:endParaRPr lang="en-IN" dirty="0"/>
          </a:p>
        </p:txBody>
      </p:sp>
      <p:pic>
        <p:nvPicPr>
          <p:cNvPr id="5" name="Picture 4">
            <a:extLst>
              <a:ext uri="{FF2B5EF4-FFF2-40B4-BE49-F238E27FC236}">
                <a16:creationId xmlns:a16="http://schemas.microsoft.com/office/drawing/2014/main" id="{DE310D05-9D4E-B7D0-09E7-FC2FDC8E5C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2364" y="1231964"/>
            <a:ext cx="2953162" cy="1514686"/>
          </a:xfrm>
          <a:prstGeom prst="rect">
            <a:avLst/>
          </a:prstGeom>
        </p:spPr>
      </p:pic>
      <p:pic>
        <p:nvPicPr>
          <p:cNvPr id="7" name="Picture 6">
            <a:extLst>
              <a:ext uri="{FF2B5EF4-FFF2-40B4-BE49-F238E27FC236}">
                <a16:creationId xmlns:a16="http://schemas.microsoft.com/office/drawing/2014/main" id="{F559B743-29B7-3618-4B4F-1D00855133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59063" y="1337647"/>
            <a:ext cx="2226172" cy="1934616"/>
          </a:xfrm>
          <a:prstGeom prst="rect">
            <a:avLst/>
          </a:prstGeom>
        </p:spPr>
      </p:pic>
      <p:pic>
        <p:nvPicPr>
          <p:cNvPr id="11" name="Picture 10">
            <a:extLst>
              <a:ext uri="{FF2B5EF4-FFF2-40B4-BE49-F238E27FC236}">
                <a16:creationId xmlns:a16="http://schemas.microsoft.com/office/drawing/2014/main" id="{DB51A0B7-6CBE-9EA3-E8B7-8BE12C233F1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1231964"/>
            <a:ext cx="5239481" cy="2324424"/>
          </a:xfrm>
          <a:prstGeom prst="rect">
            <a:avLst/>
          </a:prstGeom>
        </p:spPr>
      </p:pic>
      <p:sp>
        <p:nvSpPr>
          <p:cNvPr id="13" name="TextBox 12">
            <a:extLst>
              <a:ext uri="{FF2B5EF4-FFF2-40B4-BE49-F238E27FC236}">
                <a16:creationId xmlns:a16="http://schemas.microsoft.com/office/drawing/2014/main" id="{D66D6C10-2962-4489-F6AB-4478F4E432CF}"/>
              </a:ext>
            </a:extLst>
          </p:cNvPr>
          <p:cNvSpPr txBox="1"/>
          <p:nvPr/>
        </p:nvSpPr>
        <p:spPr>
          <a:xfrm>
            <a:off x="612843" y="4041936"/>
            <a:ext cx="11089530" cy="2123658"/>
          </a:xfrm>
          <a:prstGeom prst="rect">
            <a:avLst/>
          </a:prstGeom>
          <a:solidFill>
            <a:schemeClr val="bg1"/>
          </a:solidFill>
        </p:spPr>
        <p:txBody>
          <a:bodyPr wrap="square" rtlCol="0">
            <a:spAutoFit/>
          </a:bodyPr>
          <a:lstStyle/>
          <a:p>
            <a:r>
              <a:rPr lang="en-US" sz="2400" b="1" u="sng" dirty="0"/>
              <a:t>Insights:-</a:t>
            </a:r>
          </a:p>
          <a:p>
            <a:r>
              <a:rPr lang="en-US" b="1" dirty="0"/>
              <a:t>Shopping Distribution by Category</a:t>
            </a:r>
          </a:p>
          <a:p>
            <a:r>
              <a:rPr lang="en-US" b="1" dirty="0"/>
              <a:t>Clothing</a:t>
            </a:r>
            <a:r>
              <a:rPr lang="en-US" dirty="0"/>
              <a:t> dominates with 34,487 transactions, indicating highest demand.</a:t>
            </a:r>
          </a:p>
          <a:p>
            <a:r>
              <a:rPr lang="en-US" b="1" dirty="0"/>
              <a:t>Cosmetics</a:t>
            </a:r>
            <a:r>
              <a:rPr lang="en-US" dirty="0"/>
              <a:t> and </a:t>
            </a:r>
            <a:r>
              <a:rPr lang="en-US" b="1" dirty="0"/>
              <a:t>Food &amp; Beverage</a:t>
            </a:r>
            <a:r>
              <a:rPr lang="en-US" dirty="0"/>
              <a:t> show strong mid-level performance.</a:t>
            </a:r>
          </a:p>
          <a:p>
            <a:r>
              <a:rPr lang="en-US" b="1" dirty="0"/>
              <a:t>Toys and Shoes</a:t>
            </a:r>
            <a:r>
              <a:rPr lang="en-US" dirty="0"/>
              <a:t> have moderate transaction volume.</a:t>
            </a:r>
          </a:p>
          <a:p>
            <a:r>
              <a:rPr lang="en-US" b="1" dirty="0"/>
              <a:t>Books, Technology, and Souvenir</a:t>
            </a:r>
            <a:r>
              <a:rPr lang="en-US" dirty="0"/>
              <a:t> record the lowest transaction counts.</a:t>
            </a:r>
          </a:p>
          <a:p>
            <a:endParaRPr lang="en-IN" dirty="0"/>
          </a:p>
        </p:txBody>
      </p:sp>
      <p:pic>
        <p:nvPicPr>
          <p:cNvPr id="14" name="Picture 13">
            <a:extLst>
              <a:ext uri="{FF2B5EF4-FFF2-40B4-BE49-F238E27FC236}">
                <a16:creationId xmlns:a16="http://schemas.microsoft.com/office/drawing/2014/main" id="{A2E557D3-6EA0-16AF-C286-42908859380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9608" y="10100"/>
            <a:ext cx="1417635" cy="952938"/>
          </a:xfrm>
          <a:prstGeom prst="rect">
            <a:avLst/>
          </a:prstGeom>
        </p:spPr>
      </p:pic>
      <p:pic>
        <p:nvPicPr>
          <p:cNvPr id="15" name="Picture 14">
            <a:extLst>
              <a:ext uri="{FF2B5EF4-FFF2-40B4-BE49-F238E27FC236}">
                <a16:creationId xmlns:a16="http://schemas.microsoft.com/office/drawing/2014/main" id="{5291B797-DF15-96FA-F944-E1A7E28965B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887413" y="326433"/>
            <a:ext cx="1049866" cy="636286"/>
          </a:xfrm>
          <a:prstGeom prst="rect">
            <a:avLst/>
          </a:prstGeom>
        </p:spPr>
      </p:pic>
      <p:pic>
        <p:nvPicPr>
          <p:cNvPr id="16" name="Picture 15">
            <a:extLst>
              <a:ext uri="{FF2B5EF4-FFF2-40B4-BE49-F238E27FC236}">
                <a16:creationId xmlns:a16="http://schemas.microsoft.com/office/drawing/2014/main" id="{A09EEA17-A78A-8CF7-04F2-B7F728B370D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715740" y="619112"/>
            <a:ext cx="1049866" cy="399153"/>
          </a:xfrm>
          <a:prstGeom prst="rect">
            <a:avLst/>
          </a:prstGeom>
        </p:spPr>
      </p:pic>
      <p:pic>
        <p:nvPicPr>
          <p:cNvPr id="17" name="Picture 16">
            <a:extLst>
              <a:ext uri="{FF2B5EF4-FFF2-40B4-BE49-F238E27FC236}">
                <a16:creationId xmlns:a16="http://schemas.microsoft.com/office/drawing/2014/main" id="{37D251D2-E842-10AB-0AA6-FC1E97692E0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765606" y="0"/>
            <a:ext cx="1121807" cy="952938"/>
          </a:xfrm>
          <a:prstGeom prst="rect">
            <a:avLst/>
          </a:prstGeom>
        </p:spPr>
      </p:pic>
    </p:spTree>
    <p:extLst>
      <p:ext uri="{BB962C8B-B14F-4D97-AF65-F5344CB8AC3E}">
        <p14:creationId xmlns:p14="http://schemas.microsoft.com/office/powerpoint/2010/main" val="22509029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B30434C3-2728-0202-47DC-B1F15DCB5B1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FF0BB43-4FA9-C2CC-38EE-486A11F22195}"/>
              </a:ext>
            </a:extLst>
          </p:cNvPr>
          <p:cNvSpPr txBox="1"/>
          <p:nvPr/>
        </p:nvSpPr>
        <p:spPr>
          <a:xfrm>
            <a:off x="1332689" y="194554"/>
            <a:ext cx="8968902" cy="646331"/>
          </a:xfrm>
          <a:prstGeom prst="rect">
            <a:avLst/>
          </a:prstGeom>
          <a:solidFill>
            <a:schemeClr val="bg1"/>
          </a:solidFill>
        </p:spPr>
        <p:txBody>
          <a:bodyPr wrap="square" rtlCol="0">
            <a:spAutoFit/>
          </a:bodyPr>
          <a:lstStyle/>
          <a:p>
            <a:pPr algn="ctr"/>
            <a:r>
              <a:rPr lang="en-IN" b="1" dirty="0"/>
              <a:t>5.How is  the shopping  distribution according to age?</a:t>
            </a:r>
          </a:p>
          <a:p>
            <a:pPr algn="ctr"/>
            <a:endParaRPr lang="en-IN" b="1" dirty="0"/>
          </a:p>
        </p:txBody>
      </p:sp>
      <p:sp>
        <p:nvSpPr>
          <p:cNvPr id="3" name="TextBox 2">
            <a:extLst>
              <a:ext uri="{FF2B5EF4-FFF2-40B4-BE49-F238E27FC236}">
                <a16:creationId xmlns:a16="http://schemas.microsoft.com/office/drawing/2014/main" id="{5F50606E-10D2-47A8-0409-0A864A1897AA}"/>
              </a:ext>
            </a:extLst>
          </p:cNvPr>
          <p:cNvSpPr txBox="1"/>
          <p:nvPr/>
        </p:nvSpPr>
        <p:spPr>
          <a:xfrm>
            <a:off x="340468" y="1040860"/>
            <a:ext cx="11527277" cy="2845340"/>
          </a:xfrm>
          <a:prstGeom prst="rect">
            <a:avLst/>
          </a:prstGeom>
          <a:solidFill>
            <a:schemeClr val="bg1"/>
          </a:solidFill>
        </p:spPr>
        <p:txBody>
          <a:bodyPr wrap="square" rtlCol="0">
            <a:spAutoFit/>
          </a:bodyPr>
          <a:lstStyle/>
          <a:p>
            <a:endParaRPr lang="en-IN" dirty="0"/>
          </a:p>
        </p:txBody>
      </p:sp>
      <p:pic>
        <p:nvPicPr>
          <p:cNvPr id="5" name="Picture 4">
            <a:extLst>
              <a:ext uri="{FF2B5EF4-FFF2-40B4-BE49-F238E27FC236}">
                <a16:creationId xmlns:a16="http://schemas.microsoft.com/office/drawing/2014/main" id="{934308E4-349A-D579-BB34-40DB4C01EB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9028" y="1132713"/>
            <a:ext cx="3953789" cy="2296287"/>
          </a:xfrm>
          <a:prstGeom prst="rect">
            <a:avLst/>
          </a:prstGeom>
        </p:spPr>
      </p:pic>
      <p:pic>
        <p:nvPicPr>
          <p:cNvPr id="7" name="Picture 6">
            <a:extLst>
              <a:ext uri="{FF2B5EF4-FFF2-40B4-BE49-F238E27FC236}">
                <a16:creationId xmlns:a16="http://schemas.microsoft.com/office/drawing/2014/main" id="{1EE0802E-572C-8A88-7B58-D0A65357AD6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75801" y="1464087"/>
            <a:ext cx="2607493" cy="1356934"/>
          </a:xfrm>
          <a:prstGeom prst="rect">
            <a:avLst/>
          </a:prstGeom>
        </p:spPr>
      </p:pic>
      <p:pic>
        <p:nvPicPr>
          <p:cNvPr id="9" name="Picture 8">
            <a:extLst>
              <a:ext uri="{FF2B5EF4-FFF2-40B4-BE49-F238E27FC236}">
                <a16:creationId xmlns:a16="http://schemas.microsoft.com/office/drawing/2014/main" id="{5CC35CC7-F14F-6673-43B5-35C821A7465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752945" y="1339189"/>
            <a:ext cx="3745149" cy="2089811"/>
          </a:xfrm>
          <a:prstGeom prst="rect">
            <a:avLst/>
          </a:prstGeom>
        </p:spPr>
      </p:pic>
      <p:sp>
        <p:nvSpPr>
          <p:cNvPr id="11" name="TextBox 10">
            <a:extLst>
              <a:ext uri="{FF2B5EF4-FFF2-40B4-BE49-F238E27FC236}">
                <a16:creationId xmlns:a16="http://schemas.microsoft.com/office/drawing/2014/main" id="{864CC7A1-79E9-BD9F-E6CF-FE771E720743}"/>
              </a:ext>
            </a:extLst>
          </p:cNvPr>
          <p:cNvSpPr txBox="1"/>
          <p:nvPr/>
        </p:nvSpPr>
        <p:spPr>
          <a:xfrm flipH="1">
            <a:off x="340466" y="4184529"/>
            <a:ext cx="3132307" cy="1892826"/>
          </a:xfrm>
          <a:prstGeom prst="rect">
            <a:avLst/>
          </a:prstGeom>
          <a:solidFill>
            <a:schemeClr val="bg1"/>
          </a:solidFill>
        </p:spPr>
        <p:txBody>
          <a:bodyPr wrap="square" rtlCol="0">
            <a:spAutoFit/>
          </a:bodyPr>
          <a:lstStyle/>
          <a:p>
            <a:r>
              <a:rPr lang="en-US" b="1" dirty="0"/>
              <a:t>Business Interpretation</a:t>
            </a:r>
          </a:p>
          <a:p>
            <a:r>
              <a:rPr lang="en-US" sz="1100" b="1" dirty="0"/>
              <a:t>If Adults (30–44) are highest:</a:t>
            </a:r>
          </a:p>
          <a:p>
            <a:r>
              <a:rPr lang="en-US" sz="1100" dirty="0"/>
              <a:t>Strong purchasing power</a:t>
            </a:r>
          </a:p>
          <a:p>
            <a:r>
              <a:rPr lang="en-US" sz="1100" dirty="0"/>
              <a:t>Financially stable customers</a:t>
            </a:r>
          </a:p>
          <a:p>
            <a:r>
              <a:rPr lang="en-US" sz="1100" dirty="0"/>
              <a:t>Ideal segment for premium products</a:t>
            </a:r>
          </a:p>
          <a:p>
            <a:r>
              <a:rPr lang="en-US" sz="1100" b="1" dirty="0"/>
              <a:t>If Young Adults (21–29) are highest:</a:t>
            </a:r>
          </a:p>
          <a:p>
            <a:r>
              <a:rPr lang="en-US" sz="1100" dirty="0"/>
              <a:t>Trend-driven buying behavior</a:t>
            </a:r>
          </a:p>
          <a:p>
            <a:r>
              <a:rPr lang="en-US" sz="1100" dirty="0"/>
              <a:t>Opportunity for digital marketing campaigns</a:t>
            </a:r>
          </a:p>
          <a:p>
            <a:r>
              <a:rPr lang="en-US" sz="1100" b="1" dirty="0"/>
              <a:t>If Middle Age (45–59) is high:</a:t>
            </a:r>
          </a:p>
          <a:p>
            <a:r>
              <a:rPr lang="en-US" sz="1100" dirty="0"/>
              <a:t>Stable and consistent purchase pattern</a:t>
            </a:r>
          </a:p>
        </p:txBody>
      </p:sp>
      <p:sp>
        <p:nvSpPr>
          <p:cNvPr id="13" name="TextBox 12">
            <a:extLst>
              <a:ext uri="{FF2B5EF4-FFF2-40B4-BE49-F238E27FC236}">
                <a16:creationId xmlns:a16="http://schemas.microsoft.com/office/drawing/2014/main" id="{734DC807-E8AC-FD3A-6D4D-174C824BA408}"/>
              </a:ext>
            </a:extLst>
          </p:cNvPr>
          <p:cNvSpPr txBox="1"/>
          <p:nvPr/>
        </p:nvSpPr>
        <p:spPr>
          <a:xfrm>
            <a:off x="3774332" y="4309426"/>
            <a:ext cx="7538936" cy="1477328"/>
          </a:xfrm>
          <a:prstGeom prst="rect">
            <a:avLst/>
          </a:prstGeom>
          <a:solidFill>
            <a:schemeClr val="bg1"/>
          </a:solidFill>
        </p:spPr>
        <p:txBody>
          <a:bodyPr wrap="square" rtlCol="0">
            <a:spAutoFit/>
          </a:bodyPr>
          <a:lstStyle/>
          <a:p>
            <a:r>
              <a:rPr lang="en-US" b="1" u="sng" dirty="0"/>
              <a:t>Insights:-</a:t>
            </a:r>
          </a:p>
          <a:p>
            <a:r>
              <a:rPr lang="en-US" dirty="0"/>
              <a:t>The transaction distribution varies across different age segments.</a:t>
            </a:r>
          </a:p>
          <a:p>
            <a:r>
              <a:rPr lang="en-US" dirty="0"/>
              <a:t>Working-age customers contribute the highest number of transactions.</a:t>
            </a:r>
          </a:p>
          <a:p>
            <a:r>
              <a:rPr lang="en-US" dirty="0"/>
              <a:t>Younger and senior segments show comparatively lower purchase frequency.</a:t>
            </a:r>
          </a:p>
          <a:p>
            <a:r>
              <a:rPr lang="en-US" dirty="0"/>
              <a:t>This indicates that economically active age groups drive business performance.</a:t>
            </a:r>
          </a:p>
        </p:txBody>
      </p:sp>
      <p:pic>
        <p:nvPicPr>
          <p:cNvPr id="14" name="Picture 13">
            <a:extLst>
              <a:ext uri="{FF2B5EF4-FFF2-40B4-BE49-F238E27FC236}">
                <a16:creationId xmlns:a16="http://schemas.microsoft.com/office/drawing/2014/main" id="{56DD549A-17A5-F759-9E18-1F9FE5A9270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535055" y="194554"/>
            <a:ext cx="1432048" cy="687435"/>
          </a:xfrm>
          <a:prstGeom prst="rect">
            <a:avLst/>
          </a:prstGeom>
        </p:spPr>
      </p:pic>
    </p:spTree>
    <p:extLst>
      <p:ext uri="{BB962C8B-B14F-4D97-AF65-F5344CB8AC3E}">
        <p14:creationId xmlns:p14="http://schemas.microsoft.com/office/powerpoint/2010/main" val="1682063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BA01A1C6-AB8E-363D-98F8-3C4DF97B0CC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C27BBC7-D60A-42D1-D109-AE70A021FB08}"/>
              </a:ext>
            </a:extLst>
          </p:cNvPr>
          <p:cNvSpPr txBox="1"/>
          <p:nvPr/>
        </p:nvSpPr>
        <p:spPr>
          <a:xfrm>
            <a:off x="1789889" y="194553"/>
            <a:ext cx="7811311" cy="369332"/>
          </a:xfrm>
          <a:prstGeom prst="rect">
            <a:avLst/>
          </a:prstGeom>
          <a:solidFill>
            <a:schemeClr val="bg1"/>
          </a:solidFill>
        </p:spPr>
        <p:txBody>
          <a:bodyPr wrap="square" rtlCol="0">
            <a:spAutoFit/>
          </a:bodyPr>
          <a:lstStyle/>
          <a:p>
            <a:pPr algn="ctr"/>
            <a:r>
              <a:rPr lang="en-US" b="1" dirty="0"/>
              <a:t>6.Which age category we sell mor products</a:t>
            </a:r>
            <a:r>
              <a:rPr lang="en-IN" b="1" dirty="0"/>
              <a:t>?</a:t>
            </a:r>
          </a:p>
        </p:txBody>
      </p:sp>
      <p:sp>
        <p:nvSpPr>
          <p:cNvPr id="3" name="TextBox 2">
            <a:extLst>
              <a:ext uri="{FF2B5EF4-FFF2-40B4-BE49-F238E27FC236}">
                <a16:creationId xmlns:a16="http://schemas.microsoft.com/office/drawing/2014/main" id="{3FFE9A76-CE03-1DAC-A404-96D2F7C19882}"/>
              </a:ext>
            </a:extLst>
          </p:cNvPr>
          <p:cNvSpPr txBox="1"/>
          <p:nvPr/>
        </p:nvSpPr>
        <p:spPr>
          <a:xfrm>
            <a:off x="405732" y="875489"/>
            <a:ext cx="11391088" cy="3107987"/>
          </a:xfrm>
          <a:prstGeom prst="rect">
            <a:avLst/>
          </a:prstGeom>
          <a:solidFill>
            <a:schemeClr val="bg1"/>
          </a:solidFill>
        </p:spPr>
        <p:txBody>
          <a:bodyPr wrap="square" rtlCol="0">
            <a:spAutoFit/>
          </a:bodyPr>
          <a:lstStyle/>
          <a:p>
            <a:endParaRPr lang="en-IN" dirty="0"/>
          </a:p>
        </p:txBody>
      </p:sp>
      <p:pic>
        <p:nvPicPr>
          <p:cNvPr id="5" name="Picture 4">
            <a:extLst>
              <a:ext uri="{FF2B5EF4-FFF2-40B4-BE49-F238E27FC236}">
                <a16:creationId xmlns:a16="http://schemas.microsoft.com/office/drawing/2014/main" id="{DFD18305-51A9-6931-3EC4-28114887F8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1754" y="875489"/>
            <a:ext cx="4464996" cy="2879388"/>
          </a:xfrm>
          <a:prstGeom prst="rect">
            <a:avLst/>
          </a:prstGeom>
        </p:spPr>
      </p:pic>
      <p:pic>
        <p:nvPicPr>
          <p:cNvPr id="7" name="Picture 6">
            <a:extLst>
              <a:ext uri="{FF2B5EF4-FFF2-40B4-BE49-F238E27FC236}">
                <a16:creationId xmlns:a16="http://schemas.microsoft.com/office/drawing/2014/main" id="{1D7408A2-50A8-2E04-9799-34D551081CB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60608" y="2533525"/>
            <a:ext cx="2800741" cy="895475"/>
          </a:xfrm>
          <a:prstGeom prst="rect">
            <a:avLst/>
          </a:prstGeom>
        </p:spPr>
      </p:pic>
      <p:pic>
        <p:nvPicPr>
          <p:cNvPr id="9" name="Picture 8">
            <a:extLst>
              <a:ext uri="{FF2B5EF4-FFF2-40B4-BE49-F238E27FC236}">
                <a16:creationId xmlns:a16="http://schemas.microsoft.com/office/drawing/2014/main" id="{6564A03F-63B0-E958-541A-9DF0C3C565D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208195" y="1040860"/>
            <a:ext cx="4192423" cy="2414252"/>
          </a:xfrm>
          <a:prstGeom prst="rect">
            <a:avLst/>
          </a:prstGeom>
        </p:spPr>
      </p:pic>
      <p:sp>
        <p:nvSpPr>
          <p:cNvPr id="12" name="TextBox 11">
            <a:extLst>
              <a:ext uri="{FF2B5EF4-FFF2-40B4-BE49-F238E27FC236}">
                <a16:creationId xmlns:a16="http://schemas.microsoft.com/office/drawing/2014/main" id="{A084B5CF-BD5A-F264-B268-3961D0710C35}"/>
              </a:ext>
            </a:extLst>
          </p:cNvPr>
          <p:cNvSpPr txBox="1"/>
          <p:nvPr/>
        </p:nvSpPr>
        <p:spPr>
          <a:xfrm>
            <a:off x="405732" y="4493622"/>
            <a:ext cx="3754876" cy="2169825"/>
          </a:xfrm>
          <a:prstGeom prst="rect">
            <a:avLst/>
          </a:prstGeom>
          <a:solidFill>
            <a:schemeClr val="bg1"/>
          </a:solidFill>
        </p:spPr>
        <p:txBody>
          <a:bodyPr wrap="square" rtlCol="0">
            <a:spAutoFit/>
          </a:bodyPr>
          <a:lstStyle/>
          <a:p>
            <a:r>
              <a:rPr lang="en-US" b="1" dirty="0"/>
              <a:t>Business Interpretation</a:t>
            </a:r>
          </a:p>
          <a:p>
            <a:r>
              <a:rPr lang="en-US" sz="1100" b="1" dirty="0"/>
              <a:t>If Adults (30–44) are highest:</a:t>
            </a:r>
          </a:p>
          <a:p>
            <a:r>
              <a:rPr lang="en-US" sz="1100" dirty="0"/>
              <a:t>Strong purchasing power</a:t>
            </a:r>
          </a:p>
          <a:p>
            <a:r>
              <a:rPr lang="en-US" sz="1100" dirty="0"/>
              <a:t>Financially stable customers</a:t>
            </a:r>
          </a:p>
          <a:p>
            <a:r>
              <a:rPr lang="en-US" sz="1100" dirty="0"/>
              <a:t>Ideal segment for premium products</a:t>
            </a:r>
          </a:p>
          <a:p>
            <a:r>
              <a:rPr lang="en-US" sz="1100" b="1" dirty="0"/>
              <a:t>If Young Adults (21–29) are highest:</a:t>
            </a:r>
          </a:p>
          <a:p>
            <a:r>
              <a:rPr lang="en-US" sz="1100" dirty="0"/>
              <a:t>Trend-driven buying behavior</a:t>
            </a:r>
          </a:p>
          <a:p>
            <a:r>
              <a:rPr lang="en-US" sz="1100" dirty="0"/>
              <a:t>Opportunity for digital marketing campaigns</a:t>
            </a:r>
          </a:p>
          <a:p>
            <a:r>
              <a:rPr lang="en-US" sz="1100" b="1" dirty="0"/>
              <a:t>If Middle Age (45–59) is high:</a:t>
            </a:r>
          </a:p>
          <a:p>
            <a:r>
              <a:rPr lang="en-US" sz="1100" dirty="0"/>
              <a:t>Stable and consistent purchase pattern</a:t>
            </a:r>
          </a:p>
          <a:p>
            <a:endParaRPr lang="en-IN" dirty="0"/>
          </a:p>
        </p:txBody>
      </p:sp>
      <p:sp>
        <p:nvSpPr>
          <p:cNvPr id="13" name="TextBox 12">
            <a:extLst>
              <a:ext uri="{FF2B5EF4-FFF2-40B4-BE49-F238E27FC236}">
                <a16:creationId xmlns:a16="http://schemas.microsoft.com/office/drawing/2014/main" id="{53D9BF38-0BB3-585D-76D1-8A1EFB849347}"/>
              </a:ext>
            </a:extLst>
          </p:cNvPr>
          <p:cNvSpPr txBox="1"/>
          <p:nvPr/>
        </p:nvSpPr>
        <p:spPr>
          <a:xfrm>
            <a:off x="4414532" y="4790594"/>
            <a:ext cx="7233723" cy="1477328"/>
          </a:xfrm>
          <a:prstGeom prst="rect">
            <a:avLst/>
          </a:prstGeom>
          <a:solidFill>
            <a:schemeClr val="bg1"/>
          </a:solidFill>
        </p:spPr>
        <p:txBody>
          <a:bodyPr wrap="square" rtlCol="0">
            <a:spAutoFit/>
          </a:bodyPr>
          <a:lstStyle/>
          <a:p>
            <a:r>
              <a:rPr lang="en-US" b="1" u="sng" dirty="0"/>
              <a:t>Insights:-</a:t>
            </a:r>
          </a:p>
          <a:p>
            <a:r>
              <a:rPr lang="en-US" dirty="0"/>
              <a:t>The age-group analysis shows that the majority of transactions are generated by working-age customers, particularly adults and middle-aged segments. This indicates that customers within economically active age groups demonstrate higher purchasing behavior.</a:t>
            </a:r>
            <a:endParaRPr lang="en-IN" dirty="0"/>
          </a:p>
        </p:txBody>
      </p:sp>
      <p:pic>
        <p:nvPicPr>
          <p:cNvPr id="14" name="Picture 13">
            <a:extLst>
              <a:ext uri="{FF2B5EF4-FFF2-40B4-BE49-F238E27FC236}">
                <a16:creationId xmlns:a16="http://schemas.microsoft.com/office/drawing/2014/main" id="{EBCE6CE1-13FF-3175-079C-4FCA517C91F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601200" y="43801"/>
            <a:ext cx="1665512" cy="670836"/>
          </a:xfrm>
          <a:prstGeom prst="rect">
            <a:avLst/>
          </a:prstGeom>
        </p:spPr>
      </p:pic>
      <p:pic>
        <p:nvPicPr>
          <p:cNvPr id="15" name="Picture 14">
            <a:extLst>
              <a:ext uri="{FF2B5EF4-FFF2-40B4-BE49-F238E27FC236}">
                <a16:creationId xmlns:a16="http://schemas.microsoft.com/office/drawing/2014/main" id="{8C1D6572-D1B1-1D24-C776-5B36179908F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118714" y="43801"/>
            <a:ext cx="896385" cy="388204"/>
          </a:xfrm>
          <a:prstGeom prst="rect">
            <a:avLst/>
          </a:prstGeom>
        </p:spPr>
      </p:pic>
    </p:spTree>
    <p:extLst>
      <p:ext uri="{BB962C8B-B14F-4D97-AF65-F5344CB8AC3E}">
        <p14:creationId xmlns:p14="http://schemas.microsoft.com/office/powerpoint/2010/main" val="11756294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9CFC3D97-F2F0-0926-C3D4-6F251BF2E24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A1527BD-0180-D0EA-497D-67858F31FB51}"/>
              </a:ext>
            </a:extLst>
          </p:cNvPr>
          <p:cNvSpPr txBox="1"/>
          <p:nvPr/>
        </p:nvSpPr>
        <p:spPr>
          <a:xfrm>
            <a:off x="1789889" y="194553"/>
            <a:ext cx="7811311" cy="369332"/>
          </a:xfrm>
          <a:prstGeom prst="rect">
            <a:avLst/>
          </a:prstGeom>
          <a:solidFill>
            <a:schemeClr val="bg1"/>
          </a:solidFill>
        </p:spPr>
        <p:txBody>
          <a:bodyPr wrap="square" rtlCol="0">
            <a:spAutoFit/>
          </a:bodyPr>
          <a:lstStyle/>
          <a:p>
            <a:pPr algn="ctr"/>
            <a:r>
              <a:rPr lang="en-US" b="1" dirty="0"/>
              <a:t>7.Which age category generates more revenue</a:t>
            </a:r>
            <a:r>
              <a:rPr lang="en-IN" b="1" dirty="0"/>
              <a:t>?</a:t>
            </a:r>
          </a:p>
        </p:txBody>
      </p:sp>
      <p:sp>
        <p:nvSpPr>
          <p:cNvPr id="3" name="TextBox 2">
            <a:extLst>
              <a:ext uri="{FF2B5EF4-FFF2-40B4-BE49-F238E27FC236}">
                <a16:creationId xmlns:a16="http://schemas.microsoft.com/office/drawing/2014/main" id="{0BECABD9-02F2-E484-A6EF-514AC7A72BF9}"/>
              </a:ext>
            </a:extLst>
          </p:cNvPr>
          <p:cNvSpPr txBox="1"/>
          <p:nvPr/>
        </p:nvSpPr>
        <p:spPr>
          <a:xfrm>
            <a:off x="359923" y="875489"/>
            <a:ext cx="6449439" cy="3010711"/>
          </a:xfrm>
          <a:prstGeom prst="rect">
            <a:avLst/>
          </a:prstGeom>
          <a:solidFill>
            <a:schemeClr val="bg1"/>
          </a:solidFill>
        </p:spPr>
        <p:txBody>
          <a:bodyPr wrap="square" rtlCol="0">
            <a:spAutoFit/>
          </a:bodyPr>
          <a:lstStyle/>
          <a:p>
            <a:endParaRPr lang="en-IN" dirty="0"/>
          </a:p>
        </p:txBody>
      </p:sp>
      <p:pic>
        <p:nvPicPr>
          <p:cNvPr id="5" name="Picture 4">
            <a:extLst>
              <a:ext uri="{FF2B5EF4-FFF2-40B4-BE49-F238E27FC236}">
                <a16:creationId xmlns:a16="http://schemas.microsoft.com/office/drawing/2014/main" id="{284A62F4-8392-AE59-20FD-4F08B24C7D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6332" y="1001949"/>
            <a:ext cx="4475864" cy="2568101"/>
          </a:xfrm>
          <a:prstGeom prst="rect">
            <a:avLst/>
          </a:prstGeom>
        </p:spPr>
      </p:pic>
      <p:pic>
        <p:nvPicPr>
          <p:cNvPr id="7" name="Picture 6">
            <a:extLst>
              <a:ext uri="{FF2B5EF4-FFF2-40B4-BE49-F238E27FC236}">
                <a16:creationId xmlns:a16="http://schemas.microsoft.com/office/drawing/2014/main" id="{779845F6-55FE-A88A-056D-FD2EC06B4D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50759" y="2779365"/>
            <a:ext cx="2734057" cy="790685"/>
          </a:xfrm>
          <a:prstGeom prst="rect">
            <a:avLst/>
          </a:prstGeom>
        </p:spPr>
      </p:pic>
      <p:pic>
        <p:nvPicPr>
          <p:cNvPr id="9" name="Picture 8">
            <a:extLst>
              <a:ext uri="{FF2B5EF4-FFF2-40B4-BE49-F238E27FC236}">
                <a16:creationId xmlns:a16="http://schemas.microsoft.com/office/drawing/2014/main" id="{1F6C8B42-45E5-0ABC-56AC-42040FDE9C1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95771" y="1469620"/>
            <a:ext cx="5102723" cy="2347112"/>
          </a:xfrm>
          <a:prstGeom prst="rect">
            <a:avLst/>
          </a:prstGeom>
        </p:spPr>
      </p:pic>
      <p:pic>
        <p:nvPicPr>
          <p:cNvPr id="11" name="Picture 10">
            <a:extLst>
              <a:ext uri="{FF2B5EF4-FFF2-40B4-BE49-F238E27FC236}">
                <a16:creationId xmlns:a16="http://schemas.microsoft.com/office/drawing/2014/main" id="{AA509037-FD66-F356-35DB-123A404C0A0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0902" y="4339579"/>
            <a:ext cx="4512307" cy="1905578"/>
          </a:xfrm>
          <a:prstGeom prst="rect">
            <a:avLst/>
          </a:prstGeom>
        </p:spPr>
      </p:pic>
      <p:pic>
        <p:nvPicPr>
          <p:cNvPr id="13" name="Picture 12">
            <a:extLst>
              <a:ext uri="{FF2B5EF4-FFF2-40B4-BE49-F238E27FC236}">
                <a16:creationId xmlns:a16="http://schemas.microsoft.com/office/drawing/2014/main" id="{0CFF832F-FE24-2D0E-3C4A-4CF810FE165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525312" y="4339579"/>
            <a:ext cx="6095960" cy="1270535"/>
          </a:xfrm>
          <a:prstGeom prst="rect">
            <a:avLst/>
          </a:prstGeom>
        </p:spPr>
      </p:pic>
      <p:pic>
        <p:nvPicPr>
          <p:cNvPr id="14" name="Picture 13">
            <a:extLst>
              <a:ext uri="{FF2B5EF4-FFF2-40B4-BE49-F238E27FC236}">
                <a16:creationId xmlns:a16="http://schemas.microsoft.com/office/drawing/2014/main" id="{43637BC1-B2A5-B93A-88F0-7BB9E806824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994463" y="-8136"/>
            <a:ext cx="1004031" cy="774710"/>
          </a:xfrm>
          <a:prstGeom prst="rect">
            <a:avLst/>
          </a:prstGeom>
        </p:spPr>
      </p:pic>
      <p:pic>
        <p:nvPicPr>
          <p:cNvPr id="15" name="Picture 14">
            <a:extLst>
              <a:ext uri="{FF2B5EF4-FFF2-40B4-BE49-F238E27FC236}">
                <a16:creationId xmlns:a16="http://schemas.microsoft.com/office/drawing/2014/main" id="{B9A10664-0B36-BC42-BF90-FE76C625C42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877178" y="62324"/>
            <a:ext cx="1049866" cy="636286"/>
          </a:xfrm>
          <a:prstGeom prst="rect">
            <a:avLst/>
          </a:prstGeom>
        </p:spPr>
      </p:pic>
    </p:spTree>
    <p:extLst>
      <p:ext uri="{BB962C8B-B14F-4D97-AF65-F5344CB8AC3E}">
        <p14:creationId xmlns:p14="http://schemas.microsoft.com/office/powerpoint/2010/main" val="19490117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8CA2329B-6D29-400E-3C56-08C07C438EA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0985EA8-F509-306C-0626-3421CFE1276D}"/>
              </a:ext>
            </a:extLst>
          </p:cNvPr>
          <p:cNvSpPr txBox="1"/>
          <p:nvPr/>
        </p:nvSpPr>
        <p:spPr>
          <a:xfrm>
            <a:off x="1789889" y="194553"/>
            <a:ext cx="7811311" cy="369332"/>
          </a:xfrm>
          <a:prstGeom prst="rect">
            <a:avLst/>
          </a:prstGeom>
          <a:solidFill>
            <a:schemeClr val="bg1"/>
          </a:solidFill>
        </p:spPr>
        <p:txBody>
          <a:bodyPr wrap="square" rtlCol="0">
            <a:spAutoFit/>
          </a:bodyPr>
          <a:lstStyle/>
          <a:p>
            <a:pPr algn="ctr"/>
            <a:r>
              <a:rPr lang="en-US" dirty="0"/>
              <a:t>8.</a:t>
            </a:r>
            <a:r>
              <a:rPr lang="en-IN" dirty="0"/>
              <a:t> </a:t>
            </a:r>
            <a:r>
              <a:rPr lang="en-IN" b="1" dirty="0"/>
              <a:t>Distribution of purchase categories relative to other columns?</a:t>
            </a:r>
          </a:p>
        </p:txBody>
      </p:sp>
      <p:sp>
        <p:nvSpPr>
          <p:cNvPr id="3" name="TextBox 2">
            <a:extLst>
              <a:ext uri="{FF2B5EF4-FFF2-40B4-BE49-F238E27FC236}">
                <a16:creationId xmlns:a16="http://schemas.microsoft.com/office/drawing/2014/main" id="{FCCCC74C-FD68-364B-32AB-A89F004128A6}"/>
              </a:ext>
            </a:extLst>
          </p:cNvPr>
          <p:cNvSpPr txBox="1"/>
          <p:nvPr/>
        </p:nvSpPr>
        <p:spPr>
          <a:xfrm>
            <a:off x="612843" y="1089498"/>
            <a:ext cx="11089530" cy="2704289"/>
          </a:xfrm>
          <a:prstGeom prst="rect">
            <a:avLst/>
          </a:prstGeom>
          <a:solidFill>
            <a:schemeClr val="bg1"/>
          </a:solidFill>
        </p:spPr>
        <p:txBody>
          <a:bodyPr wrap="square" rtlCol="0">
            <a:spAutoFit/>
          </a:bodyPr>
          <a:lstStyle/>
          <a:p>
            <a:endParaRPr lang="en-IN" dirty="0"/>
          </a:p>
        </p:txBody>
      </p:sp>
      <p:pic>
        <p:nvPicPr>
          <p:cNvPr id="5" name="Picture 4">
            <a:extLst>
              <a:ext uri="{FF2B5EF4-FFF2-40B4-BE49-F238E27FC236}">
                <a16:creationId xmlns:a16="http://schemas.microsoft.com/office/drawing/2014/main" id="{DDDCBE10-74B1-06D9-DCC1-EF9CF894CA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2364" y="1231964"/>
            <a:ext cx="2953162" cy="1514686"/>
          </a:xfrm>
          <a:prstGeom prst="rect">
            <a:avLst/>
          </a:prstGeom>
        </p:spPr>
      </p:pic>
      <p:pic>
        <p:nvPicPr>
          <p:cNvPr id="7" name="Picture 6">
            <a:extLst>
              <a:ext uri="{FF2B5EF4-FFF2-40B4-BE49-F238E27FC236}">
                <a16:creationId xmlns:a16="http://schemas.microsoft.com/office/drawing/2014/main" id="{F02EF6C7-7B3D-633D-BE04-902A2BF51FD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59063" y="1337647"/>
            <a:ext cx="2226172" cy="1934616"/>
          </a:xfrm>
          <a:prstGeom prst="rect">
            <a:avLst/>
          </a:prstGeom>
        </p:spPr>
      </p:pic>
      <p:pic>
        <p:nvPicPr>
          <p:cNvPr id="11" name="Picture 10">
            <a:extLst>
              <a:ext uri="{FF2B5EF4-FFF2-40B4-BE49-F238E27FC236}">
                <a16:creationId xmlns:a16="http://schemas.microsoft.com/office/drawing/2014/main" id="{40E872CA-3FD0-DD6E-5FF4-0C4B70EB2A6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49403" y="1231964"/>
            <a:ext cx="5239481" cy="2324424"/>
          </a:xfrm>
          <a:prstGeom prst="rect">
            <a:avLst/>
          </a:prstGeom>
        </p:spPr>
      </p:pic>
      <p:sp>
        <p:nvSpPr>
          <p:cNvPr id="13" name="TextBox 12">
            <a:extLst>
              <a:ext uri="{FF2B5EF4-FFF2-40B4-BE49-F238E27FC236}">
                <a16:creationId xmlns:a16="http://schemas.microsoft.com/office/drawing/2014/main" id="{0FEF85DE-93CA-D5AC-3D4C-2EE70F434A15}"/>
              </a:ext>
            </a:extLst>
          </p:cNvPr>
          <p:cNvSpPr txBox="1"/>
          <p:nvPr/>
        </p:nvSpPr>
        <p:spPr>
          <a:xfrm>
            <a:off x="612843" y="4041936"/>
            <a:ext cx="5272392" cy="1692771"/>
          </a:xfrm>
          <a:prstGeom prst="rect">
            <a:avLst/>
          </a:prstGeom>
          <a:solidFill>
            <a:schemeClr val="bg1"/>
          </a:solidFill>
        </p:spPr>
        <p:txBody>
          <a:bodyPr wrap="square" rtlCol="0">
            <a:spAutoFit/>
          </a:bodyPr>
          <a:lstStyle/>
          <a:p>
            <a:r>
              <a:rPr lang="en-US" sz="2400" b="1" u="sng" dirty="0"/>
              <a:t>Insights:-</a:t>
            </a:r>
          </a:p>
          <a:p>
            <a:r>
              <a:rPr lang="en-US" b="1" dirty="0"/>
              <a:t>Shopping Distribution by Category</a:t>
            </a:r>
          </a:p>
          <a:p>
            <a:r>
              <a:rPr lang="en-US" sz="1100" b="1" dirty="0"/>
              <a:t>Clothing</a:t>
            </a:r>
            <a:r>
              <a:rPr lang="en-US" sz="1100" dirty="0"/>
              <a:t> dominates with 34,487 transactions, indicating highest demand.</a:t>
            </a:r>
          </a:p>
          <a:p>
            <a:r>
              <a:rPr lang="en-US" sz="1100" b="1" dirty="0"/>
              <a:t>Cosmetics</a:t>
            </a:r>
            <a:r>
              <a:rPr lang="en-US" sz="1100" dirty="0"/>
              <a:t> and </a:t>
            </a:r>
            <a:r>
              <a:rPr lang="en-US" sz="1100" b="1" dirty="0"/>
              <a:t>Food &amp; Beverage</a:t>
            </a:r>
            <a:r>
              <a:rPr lang="en-US" sz="1100" dirty="0"/>
              <a:t> show strong mid-level performance.</a:t>
            </a:r>
          </a:p>
          <a:p>
            <a:r>
              <a:rPr lang="en-US" sz="1100" b="1" dirty="0"/>
              <a:t>Toys and Shoes</a:t>
            </a:r>
            <a:r>
              <a:rPr lang="en-US" sz="1100" dirty="0"/>
              <a:t> have moderate transaction volume.</a:t>
            </a:r>
          </a:p>
          <a:p>
            <a:r>
              <a:rPr lang="en-US" sz="1100" b="1" dirty="0"/>
              <a:t>Books, Technology, and Souvenir</a:t>
            </a:r>
            <a:r>
              <a:rPr lang="en-US" sz="1100" dirty="0"/>
              <a:t> record the lowest transaction counts.</a:t>
            </a:r>
          </a:p>
          <a:p>
            <a:endParaRPr lang="en-IN" dirty="0"/>
          </a:p>
        </p:txBody>
      </p:sp>
      <p:sp>
        <p:nvSpPr>
          <p:cNvPr id="6" name="TextBox 5">
            <a:extLst>
              <a:ext uri="{FF2B5EF4-FFF2-40B4-BE49-F238E27FC236}">
                <a16:creationId xmlns:a16="http://schemas.microsoft.com/office/drawing/2014/main" id="{44B08E68-6786-AEF2-B7A0-CD565FFFE9A9}"/>
              </a:ext>
            </a:extLst>
          </p:cNvPr>
          <p:cNvSpPr txBox="1"/>
          <p:nvPr/>
        </p:nvSpPr>
        <p:spPr>
          <a:xfrm flipH="1">
            <a:off x="6551578" y="4114800"/>
            <a:ext cx="4275307" cy="1477328"/>
          </a:xfrm>
          <a:prstGeom prst="rect">
            <a:avLst/>
          </a:prstGeom>
          <a:solidFill>
            <a:schemeClr val="bg1"/>
          </a:solidFill>
        </p:spPr>
        <p:txBody>
          <a:bodyPr wrap="square" rtlCol="0">
            <a:spAutoFit/>
          </a:bodyPr>
          <a:lstStyle/>
          <a:p>
            <a:r>
              <a:rPr lang="en-US" sz="1400" b="1" u="sng" dirty="0"/>
              <a:t>What This Means:-</a:t>
            </a:r>
          </a:p>
          <a:p>
            <a:r>
              <a:rPr lang="en-US" sz="1400" dirty="0"/>
              <a:t>  </a:t>
            </a:r>
            <a:r>
              <a:rPr lang="en-US" sz="1100" dirty="0"/>
              <a:t>Fashion-related products drive customer engagement</a:t>
            </a:r>
            <a:br>
              <a:rPr lang="en-US" sz="1100" dirty="0"/>
            </a:br>
            <a:r>
              <a:rPr lang="en-US" sz="1100" dirty="0"/>
              <a:t>  Repeat purchase behavior is strong in Clothing</a:t>
            </a:r>
          </a:p>
          <a:p>
            <a:r>
              <a:rPr lang="en-US" sz="1100" dirty="0"/>
              <a:t>    Technology may have lower transactions but possibly higher  price per unit</a:t>
            </a:r>
            <a:br>
              <a:rPr lang="en-US" sz="1100" dirty="0"/>
            </a:br>
            <a:r>
              <a:rPr lang="en-US" sz="1100" dirty="0"/>
              <a:t> Low-performing categories may require promotional strategies</a:t>
            </a:r>
          </a:p>
          <a:p>
            <a:endParaRPr lang="en-IN" dirty="0"/>
          </a:p>
        </p:txBody>
      </p:sp>
      <p:pic>
        <p:nvPicPr>
          <p:cNvPr id="8" name="Picture 7">
            <a:extLst>
              <a:ext uri="{FF2B5EF4-FFF2-40B4-BE49-F238E27FC236}">
                <a16:creationId xmlns:a16="http://schemas.microsoft.com/office/drawing/2014/main" id="{88D94DA6-B172-A4DC-4D74-FFCABAE8B25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0" y="123424"/>
            <a:ext cx="1665512" cy="841999"/>
          </a:xfrm>
          <a:prstGeom prst="rect">
            <a:avLst/>
          </a:prstGeom>
        </p:spPr>
      </p:pic>
    </p:spTree>
    <p:extLst>
      <p:ext uri="{BB962C8B-B14F-4D97-AF65-F5344CB8AC3E}">
        <p14:creationId xmlns:p14="http://schemas.microsoft.com/office/powerpoint/2010/main" val="29121915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887235F7-A147-73C8-4481-C53BD694F79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989F38F-D9F0-B61D-B56F-C336EC3FBBD0}"/>
              </a:ext>
            </a:extLst>
          </p:cNvPr>
          <p:cNvSpPr txBox="1"/>
          <p:nvPr/>
        </p:nvSpPr>
        <p:spPr>
          <a:xfrm>
            <a:off x="1789889" y="194553"/>
            <a:ext cx="7811311" cy="369332"/>
          </a:xfrm>
          <a:prstGeom prst="rect">
            <a:avLst/>
          </a:prstGeom>
          <a:solidFill>
            <a:schemeClr val="bg1"/>
          </a:solidFill>
        </p:spPr>
        <p:txBody>
          <a:bodyPr wrap="square" rtlCol="0">
            <a:spAutoFit/>
          </a:bodyPr>
          <a:lstStyle/>
          <a:p>
            <a:pPr algn="ctr"/>
            <a:r>
              <a:rPr lang="en-IN" b="1" dirty="0"/>
              <a:t>9.Dose payment method have relation  </a:t>
            </a:r>
            <a:r>
              <a:rPr lang="en-IN" b="1" dirty="0" err="1"/>
              <a:t>betw</a:t>
            </a:r>
            <a:r>
              <a:rPr lang="en-IN" b="1" dirty="0"/>
              <a:t> other col?</a:t>
            </a:r>
          </a:p>
        </p:txBody>
      </p:sp>
      <p:sp>
        <p:nvSpPr>
          <p:cNvPr id="3" name="TextBox 2">
            <a:extLst>
              <a:ext uri="{FF2B5EF4-FFF2-40B4-BE49-F238E27FC236}">
                <a16:creationId xmlns:a16="http://schemas.microsoft.com/office/drawing/2014/main" id="{220649EC-A345-1917-B51D-7E2E8D30001A}"/>
              </a:ext>
            </a:extLst>
          </p:cNvPr>
          <p:cNvSpPr txBox="1"/>
          <p:nvPr/>
        </p:nvSpPr>
        <p:spPr>
          <a:xfrm>
            <a:off x="525294" y="817123"/>
            <a:ext cx="11293811" cy="3069077"/>
          </a:xfrm>
          <a:prstGeom prst="rect">
            <a:avLst/>
          </a:prstGeom>
          <a:solidFill>
            <a:schemeClr val="bg1"/>
          </a:solidFill>
        </p:spPr>
        <p:txBody>
          <a:bodyPr wrap="square" rtlCol="0">
            <a:spAutoFit/>
          </a:bodyPr>
          <a:lstStyle/>
          <a:p>
            <a:endParaRPr lang="en-IN" dirty="0"/>
          </a:p>
        </p:txBody>
      </p:sp>
      <p:pic>
        <p:nvPicPr>
          <p:cNvPr id="5" name="Picture 4">
            <a:extLst>
              <a:ext uri="{FF2B5EF4-FFF2-40B4-BE49-F238E27FC236}">
                <a16:creationId xmlns:a16="http://schemas.microsoft.com/office/drawing/2014/main" id="{CFF444BE-E8AD-F846-3D6A-3CFA248C97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5294" y="889884"/>
            <a:ext cx="4410691" cy="1362265"/>
          </a:xfrm>
          <a:prstGeom prst="rect">
            <a:avLst/>
          </a:prstGeom>
        </p:spPr>
      </p:pic>
      <p:pic>
        <p:nvPicPr>
          <p:cNvPr id="7" name="Picture 6">
            <a:extLst>
              <a:ext uri="{FF2B5EF4-FFF2-40B4-BE49-F238E27FC236}">
                <a16:creationId xmlns:a16="http://schemas.microsoft.com/office/drawing/2014/main" id="{7C9BB6C6-A26E-C9A1-D274-1DEA48039C6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02536" y="2252149"/>
            <a:ext cx="4677428" cy="981212"/>
          </a:xfrm>
          <a:prstGeom prst="rect">
            <a:avLst/>
          </a:prstGeom>
        </p:spPr>
      </p:pic>
      <p:pic>
        <p:nvPicPr>
          <p:cNvPr id="11" name="Picture 10">
            <a:extLst>
              <a:ext uri="{FF2B5EF4-FFF2-40B4-BE49-F238E27FC236}">
                <a16:creationId xmlns:a16="http://schemas.microsoft.com/office/drawing/2014/main" id="{4765ACFF-1A1B-C28F-593A-E6D1424B203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79964" y="918463"/>
            <a:ext cx="3886742" cy="2667372"/>
          </a:xfrm>
          <a:prstGeom prst="rect">
            <a:avLst/>
          </a:prstGeom>
        </p:spPr>
      </p:pic>
      <p:sp>
        <p:nvSpPr>
          <p:cNvPr id="17" name="TextBox 16">
            <a:extLst>
              <a:ext uri="{FF2B5EF4-FFF2-40B4-BE49-F238E27FC236}">
                <a16:creationId xmlns:a16="http://schemas.microsoft.com/office/drawing/2014/main" id="{C3385674-5EB8-04D5-9FDE-B96C746CD5EC}"/>
              </a:ext>
            </a:extLst>
          </p:cNvPr>
          <p:cNvSpPr txBox="1"/>
          <p:nvPr/>
        </p:nvSpPr>
        <p:spPr>
          <a:xfrm>
            <a:off x="525295" y="4305486"/>
            <a:ext cx="3122578" cy="2031325"/>
          </a:xfrm>
          <a:prstGeom prst="rect">
            <a:avLst/>
          </a:prstGeom>
          <a:solidFill>
            <a:schemeClr val="bg1"/>
          </a:solidFill>
        </p:spPr>
        <p:txBody>
          <a:bodyPr wrap="square" rtlCol="0">
            <a:spAutoFit/>
          </a:bodyPr>
          <a:lstStyle/>
          <a:p>
            <a:r>
              <a:rPr lang="en-US" b="1" u="sng" dirty="0"/>
              <a:t>Credit Card is highest</a:t>
            </a:r>
            <a:r>
              <a:rPr lang="en-US" u="sng" dirty="0"/>
              <a:t>:-</a:t>
            </a:r>
          </a:p>
          <a:p>
            <a:r>
              <a:rPr lang="en-US" dirty="0"/>
              <a:t>Indicates strong purchasing power</a:t>
            </a:r>
          </a:p>
          <a:p>
            <a:r>
              <a:rPr lang="en-US" dirty="0"/>
              <a:t>Customers are comfortable with higher-value transactions</a:t>
            </a:r>
          </a:p>
          <a:p>
            <a:r>
              <a:rPr lang="en-US" dirty="0"/>
              <a:t>Potential for premium product targeting</a:t>
            </a:r>
          </a:p>
        </p:txBody>
      </p:sp>
      <p:sp>
        <p:nvSpPr>
          <p:cNvPr id="19" name="TextBox 18">
            <a:extLst>
              <a:ext uri="{FF2B5EF4-FFF2-40B4-BE49-F238E27FC236}">
                <a16:creationId xmlns:a16="http://schemas.microsoft.com/office/drawing/2014/main" id="{9426B89A-F247-EC12-E49B-62040EC91A25}"/>
              </a:ext>
            </a:extLst>
          </p:cNvPr>
          <p:cNvSpPr txBox="1"/>
          <p:nvPr/>
        </p:nvSpPr>
        <p:spPr>
          <a:xfrm>
            <a:off x="4289898" y="4305486"/>
            <a:ext cx="3490065" cy="2185214"/>
          </a:xfrm>
          <a:prstGeom prst="rect">
            <a:avLst/>
          </a:prstGeom>
          <a:solidFill>
            <a:schemeClr val="bg1"/>
          </a:solidFill>
        </p:spPr>
        <p:txBody>
          <a:bodyPr wrap="square" rtlCol="0">
            <a:spAutoFit/>
          </a:bodyPr>
          <a:lstStyle/>
          <a:p>
            <a:r>
              <a:rPr lang="en-US" b="1" u="sng" dirty="0"/>
              <a:t>Digital Wallets are strong</a:t>
            </a:r>
            <a:r>
              <a:rPr lang="en-US" u="sng" dirty="0"/>
              <a:t>:-</a:t>
            </a:r>
          </a:p>
          <a:p>
            <a:r>
              <a:rPr lang="en-US" sz="2000" dirty="0"/>
              <a:t>Younger demographic dominance</a:t>
            </a:r>
          </a:p>
          <a:p>
            <a:r>
              <a:rPr lang="en-US" sz="2000" dirty="0"/>
              <a:t>Tech adoption is high</a:t>
            </a:r>
          </a:p>
          <a:p>
            <a:r>
              <a:rPr lang="en-US" sz="2000" dirty="0"/>
              <a:t>Opportunity for app-based promotions</a:t>
            </a:r>
          </a:p>
          <a:p>
            <a:endParaRPr lang="en-IN" dirty="0"/>
          </a:p>
        </p:txBody>
      </p:sp>
      <p:sp>
        <p:nvSpPr>
          <p:cNvPr id="21" name="TextBox 20">
            <a:extLst>
              <a:ext uri="{FF2B5EF4-FFF2-40B4-BE49-F238E27FC236}">
                <a16:creationId xmlns:a16="http://schemas.microsoft.com/office/drawing/2014/main" id="{BD7536E2-EA6C-E4BE-A4C2-8D17083264DE}"/>
              </a:ext>
            </a:extLst>
          </p:cNvPr>
          <p:cNvSpPr txBox="1"/>
          <p:nvPr/>
        </p:nvSpPr>
        <p:spPr>
          <a:xfrm>
            <a:off x="8336604" y="4305486"/>
            <a:ext cx="3608962" cy="1754326"/>
          </a:xfrm>
          <a:prstGeom prst="rect">
            <a:avLst/>
          </a:prstGeom>
          <a:solidFill>
            <a:schemeClr val="bg1"/>
          </a:solidFill>
        </p:spPr>
        <p:txBody>
          <a:bodyPr wrap="square" rtlCol="0">
            <a:spAutoFit/>
          </a:bodyPr>
          <a:lstStyle/>
          <a:p>
            <a:r>
              <a:rPr lang="en-US" b="1" u="sng" dirty="0"/>
              <a:t>Cash is highest</a:t>
            </a:r>
            <a:r>
              <a:rPr lang="en-US" u="sng" dirty="0"/>
              <a:t>:-</a:t>
            </a:r>
          </a:p>
          <a:p>
            <a:r>
              <a:rPr lang="en-US" dirty="0"/>
              <a:t>Reflects traditional buying behavior</a:t>
            </a:r>
          </a:p>
          <a:p>
            <a:r>
              <a:rPr lang="en-US" dirty="0"/>
              <a:t>Wide customer accessibility</a:t>
            </a:r>
          </a:p>
          <a:p>
            <a:r>
              <a:rPr lang="en-US" dirty="0"/>
              <a:t>May indicate smaller transaction sizes</a:t>
            </a:r>
          </a:p>
          <a:p>
            <a:endParaRPr lang="en-IN" dirty="0"/>
          </a:p>
        </p:txBody>
      </p:sp>
      <p:pic>
        <p:nvPicPr>
          <p:cNvPr id="22" name="Picture 21">
            <a:extLst>
              <a:ext uri="{FF2B5EF4-FFF2-40B4-BE49-F238E27FC236}">
                <a16:creationId xmlns:a16="http://schemas.microsoft.com/office/drawing/2014/main" id="{20D4C134-34E7-DD95-35EF-1A5F6CD535C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723335" y="0"/>
            <a:ext cx="1665512" cy="798188"/>
          </a:xfrm>
          <a:prstGeom prst="rect">
            <a:avLst/>
          </a:prstGeom>
        </p:spPr>
      </p:pic>
      <p:pic>
        <p:nvPicPr>
          <p:cNvPr id="23" name="Picture 22">
            <a:extLst>
              <a:ext uri="{FF2B5EF4-FFF2-40B4-BE49-F238E27FC236}">
                <a16:creationId xmlns:a16="http://schemas.microsoft.com/office/drawing/2014/main" id="{1215D924-B50A-0B61-67FA-3D9EF57204B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4023" y="79694"/>
            <a:ext cx="1049866" cy="636286"/>
          </a:xfrm>
          <a:prstGeom prst="rect">
            <a:avLst/>
          </a:prstGeom>
        </p:spPr>
      </p:pic>
    </p:spTree>
    <p:extLst>
      <p:ext uri="{BB962C8B-B14F-4D97-AF65-F5344CB8AC3E}">
        <p14:creationId xmlns:p14="http://schemas.microsoft.com/office/powerpoint/2010/main" val="34247305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7C59EA07-2700-01C0-CFC6-1FAE6099481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FDAF6B4-1FFF-D515-93D8-D801A300F154}"/>
              </a:ext>
            </a:extLst>
          </p:cNvPr>
          <p:cNvSpPr txBox="1"/>
          <p:nvPr/>
        </p:nvSpPr>
        <p:spPr>
          <a:xfrm>
            <a:off x="1789889" y="194553"/>
            <a:ext cx="7811311" cy="369332"/>
          </a:xfrm>
          <a:prstGeom prst="rect">
            <a:avLst/>
          </a:prstGeom>
          <a:solidFill>
            <a:schemeClr val="bg1"/>
          </a:solidFill>
        </p:spPr>
        <p:txBody>
          <a:bodyPr wrap="square" rtlCol="0">
            <a:spAutoFit/>
          </a:bodyPr>
          <a:lstStyle/>
          <a:p>
            <a:pPr algn="ctr"/>
            <a:r>
              <a:rPr lang="en-IN" b="1" dirty="0"/>
              <a:t>10.How is the distribution of the payment method?</a:t>
            </a:r>
          </a:p>
        </p:txBody>
      </p:sp>
      <p:sp>
        <p:nvSpPr>
          <p:cNvPr id="3" name="TextBox 2">
            <a:extLst>
              <a:ext uri="{FF2B5EF4-FFF2-40B4-BE49-F238E27FC236}">
                <a16:creationId xmlns:a16="http://schemas.microsoft.com/office/drawing/2014/main" id="{46EA3F51-82D4-63A2-8256-2A120EC854AD}"/>
              </a:ext>
            </a:extLst>
          </p:cNvPr>
          <p:cNvSpPr txBox="1"/>
          <p:nvPr/>
        </p:nvSpPr>
        <p:spPr>
          <a:xfrm>
            <a:off x="428018" y="807397"/>
            <a:ext cx="11060348" cy="3078804"/>
          </a:xfrm>
          <a:prstGeom prst="rect">
            <a:avLst/>
          </a:prstGeom>
          <a:solidFill>
            <a:schemeClr val="bg1"/>
          </a:solidFill>
        </p:spPr>
        <p:txBody>
          <a:bodyPr wrap="square" rtlCol="0">
            <a:spAutoFit/>
          </a:bodyPr>
          <a:lstStyle/>
          <a:p>
            <a:endParaRPr lang="en-IN" dirty="0"/>
          </a:p>
        </p:txBody>
      </p:sp>
      <p:pic>
        <p:nvPicPr>
          <p:cNvPr id="5" name="Picture 4">
            <a:extLst>
              <a:ext uri="{FF2B5EF4-FFF2-40B4-BE49-F238E27FC236}">
                <a16:creationId xmlns:a16="http://schemas.microsoft.com/office/drawing/2014/main" id="{CFA0240B-3286-A851-CC20-8DB9C086AA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4657" y="1014330"/>
            <a:ext cx="4084347" cy="1291125"/>
          </a:xfrm>
          <a:prstGeom prst="rect">
            <a:avLst/>
          </a:prstGeom>
        </p:spPr>
      </p:pic>
      <p:pic>
        <p:nvPicPr>
          <p:cNvPr id="7" name="Picture 6">
            <a:extLst>
              <a:ext uri="{FF2B5EF4-FFF2-40B4-BE49-F238E27FC236}">
                <a16:creationId xmlns:a16="http://schemas.microsoft.com/office/drawing/2014/main" id="{A5250F5B-E79B-D4AE-557E-2A86558549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53250" y="2346799"/>
            <a:ext cx="3191320" cy="1133633"/>
          </a:xfrm>
          <a:prstGeom prst="rect">
            <a:avLst/>
          </a:prstGeom>
        </p:spPr>
      </p:pic>
      <p:pic>
        <p:nvPicPr>
          <p:cNvPr id="9" name="Picture 8">
            <a:extLst>
              <a:ext uri="{FF2B5EF4-FFF2-40B4-BE49-F238E27FC236}">
                <a16:creationId xmlns:a16="http://schemas.microsoft.com/office/drawing/2014/main" id="{BD2BFF47-141B-F635-541C-825463DD3D2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80463" y="1081321"/>
            <a:ext cx="3905795" cy="2448267"/>
          </a:xfrm>
          <a:prstGeom prst="rect">
            <a:avLst/>
          </a:prstGeom>
        </p:spPr>
      </p:pic>
      <p:sp>
        <p:nvSpPr>
          <p:cNvPr id="11" name="TextBox 10">
            <a:extLst>
              <a:ext uri="{FF2B5EF4-FFF2-40B4-BE49-F238E27FC236}">
                <a16:creationId xmlns:a16="http://schemas.microsoft.com/office/drawing/2014/main" id="{51B2AD0F-0EC8-1E35-8589-98F9D7002D9E}"/>
              </a:ext>
            </a:extLst>
          </p:cNvPr>
          <p:cNvSpPr txBox="1"/>
          <p:nvPr/>
        </p:nvSpPr>
        <p:spPr>
          <a:xfrm>
            <a:off x="428019" y="4160125"/>
            <a:ext cx="4153710" cy="1723549"/>
          </a:xfrm>
          <a:prstGeom prst="rect">
            <a:avLst/>
          </a:prstGeom>
          <a:solidFill>
            <a:schemeClr val="bg1"/>
          </a:solidFill>
        </p:spPr>
        <p:txBody>
          <a:bodyPr wrap="square" rtlCol="0">
            <a:spAutoFit/>
          </a:bodyPr>
          <a:lstStyle/>
          <a:p>
            <a:r>
              <a:rPr lang="en-US" sz="1100" b="1" u="sng" dirty="0"/>
              <a:t>Insights:-</a:t>
            </a:r>
          </a:p>
          <a:p>
            <a:r>
              <a:rPr lang="en-US" sz="1100" b="1" dirty="0"/>
              <a:t>Cash</a:t>
            </a:r>
            <a:r>
              <a:rPr lang="en-US" sz="1100" dirty="0"/>
              <a:t> is the most preferred payment method, accounting for approximately 45% of total transactions.</a:t>
            </a:r>
          </a:p>
          <a:p>
            <a:r>
              <a:rPr lang="en-US" sz="1100" b="1" dirty="0"/>
              <a:t>Credit Card</a:t>
            </a:r>
            <a:r>
              <a:rPr lang="en-US" sz="1100" dirty="0"/>
              <a:t> transactions represent around 35% of purchases.</a:t>
            </a:r>
          </a:p>
          <a:p>
            <a:r>
              <a:rPr lang="en-US" sz="1100" b="1" dirty="0"/>
              <a:t>Debit Card</a:t>
            </a:r>
            <a:r>
              <a:rPr lang="en-US" sz="1100" dirty="0"/>
              <a:t> usage is comparatively lower at approximately 20%.</a:t>
            </a:r>
          </a:p>
          <a:p>
            <a:r>
              <a:rPr lang="en-US" sz="1100" dirty="0"/>
              <a:t>Traditional cash payments still dominate customer transactions.</a:t>
            </a:r>
          </a:p>
          <a:p>
            <a:r>
              <a:rPr lang="en-US" sz="1100" dirty="0"/>
              <a:t>Digital payments (Credit + Debit) together account for more than 50% of transactions, indicating growing digital adoption.</a:t>
            </a:r>
          </a:p>
          <a:p>
            <a:endParaRPr lang="en-IN" dirty="0"/>
          </a:p>
        </p:txBody>
      </p:sp>
      <p:sp>
        <p:nvSpPr>
          <p:cNvPr id="13" name="TextBox 12">
            <a:extLst>
              <a:ext uri="{FF2B5EF4-FFF2-40B4-BE49-F238E27FC236}">
                <a16:creationId xmlns:a16="http://schemas.microsoft.com/office/drawing/2014/main" id="{67642BF1-9C0D-7531-4201-5EEA6269EF14}"/>
              </a:ext>
            </a:extLst>
          </p:cNvPr>
          <p:cNvSpPr txBox="1"/>
          <p:nvPr/>
        </p:nvSpPr>
        <p:spPr>
          <a:xfrm>
            <a:off x="5165388" y="4160126"/>
            <a:ext cx="6322978" cy="2031325"/>
          </a:xfrm>
          <a:prstGeom prst="rect">
            <a:avLst/>
          </a:prstGeom>
          <a:solidFill>
            <a:schemeClr val="bg1"/>
          </a:solidFill>
        </p:spPr>
        <p:txBody>
          <a:bodyPr wrap="square" rtlCol="0">
            <a:spAutoFit/>
          </a:bodyPr>
          <a:lstStyle/>
          <a:p>
            <a:r>
              <a:rPr lang="en-IN" b="1" u="sng" dirty="0"/>
              <a:t>What This Means:-</a:t>
            </a:r>
          </a:p>
          <a:p>
            <a:r>
              <a:rPr lang="en-IN" dirty="0"/>
              <a:t> Cash is still dominant → traditional buying </a:t>
            </a:r>
            <a:r>
              <a:rPr lang="en-IN" dirty="0" err="1"/>
              <a:t>behavior</a:t>
            </a:r>
            <a:br>
              <a:rPr lang="en-IN" dirty="0"/>
            </a:br>
            <a:r>
              <a:rPr lang="en-IN" dirty="0"/>
              <a:t> Strong credit card usage → customers comfortable with higher spending</a:t>
            </a:r>
          </a:p>
          <a:p>
            <a:r>
              <a:rPr lang="en-IN" dirty="0"/>
              <a:t> Debit card moderate → regular daily purchases</a:t>
            </a:r>
            <a:br>
              <a:rPr lang="en-IN" dirty="0"/>
            </a:br>
            <a:r>
              <a:rPr lang="en-IN" dirty="0"/>
              <a:t>Digital adoption is significant (55%)</a:t>
            </a:r>
          </a:p>
          <a:p>
            <a:endParaRPr lang="en-IN" dirty="0"/>
          </a:p>
        </p:txBody>
      </p:sp>
      <p:pic>
        <p:nvPicPr>
          <p:cNvPr id="14" name="Picture 13">
            <a:extLst>
              <a:ext uri="{FF2B5EF4-FFF2-40B4-BE49-F238E27FC236}">
                <a16:creationId xmlns:a16="http://schemas.microsoft.com/office/drawing/2014/main" id="{40147DA3-0E97-7CC8-6CC2-D4E957AB483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4377" y="48638"/>
            <a:ext cx="916483" cy="717415"/>
          </a:xfrm>
          <a:prstGeom prst="rect">
            <a:avLst/>
          </a:prstGeom>
        </p:spPr>
      </p:pic>
      <p:pic>
        <p:nvPicPr>
          <p:cNvPr id="15" name="Picture 14">
            <a:extLst>
              <a:ext uri="{FF2B5EF4-FFF2-40B4-BE49-F238E27FC236}">
                <a16:creationId xmlns:a16="http://schemas.microsoft.com/office/drawing/2014/main" id="{FF0423FA-968B-DA5B-B925-48BE9A7FFDD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3295" y="6975"/>
            <a:ext cx="1049866" cy="450225"/>
          </a:xfrm>
          <a:prstGeom prst="rect">
            <a:avLst/>
          </a:prstGeom>
        </p:spPr>
      </p:pic>
      <p:pic>
        <p:nvPicPr>
          <p:cNvPr id="16" name="Picture 15">
            <a:extLst>
              <a:ext uri="{FF2B5EF4-FFF2-40B4-BE49-F238E27FC236}">
                <a16:creationId xmlns:a16="http://schemas.microsoft.com/office/drawing/2014/main" id="{F055FC1D-3034-5F06-63A4-A3089A560BF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877177" y="48638"/>
            <a:ext cx="1980839" cy="636286"/>
          </a:xfrm>
          <a:prstGeom prst="rect">
            <a:avLst/>
          </a:prstGeom>
        </p:spPr>
      </p:pic>
    </p:spTree>
    <p:extLst>
      <p:ext uri="{BB962C8B-B14F-4D97-AF65-F5344CB8AC3E}">
        <p14:creationId xmlns:p14="http://schemas.microsoft.com/office/powerpoint/2010/main" val="13594499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F247BE0-C758-F561-9E51-7C5733C2E0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809" y="0"/>
            <a:ext cx="12034382" cy="6858000"/>
          </a:xfrm>
          <a:prstGeom prst="rect">
            <a:avLst/>
          </a:prstGeom>
        </p:spPr>
      </p:pic>
      <p:pic>
        <p:nvPicPr>
          <p:cNvPr id="4" name="Picture 3">
            <a:extLst>
              <a:ext uri="{FF2B5EF4-FFF2-40B4-BE49-F238E27FC236}">
                <a16:creationId xmlns:a16="http://schemas.microsoft.com/office/drawing/2014/main" id="{9EA345A3-CCD9-3ACF-FF06-556652EA480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46182" y="5457216"/>
            <a:ext cx="1665512" cy="1107570"/>
          </a:xfrm>
          <a:prstGeom prst="rect">
            <a:avLst/>
          </a:prstGeom>
        </p:spPr>
      </p:pic>
    </p:spTree>
    <p:extLst>
      <p:ext uri="{BB962C8B-B14F-4D97-AF65-F5344CB8AC3E}">
        <p14:creationId xmlns:p14="http://schemas.microsoft.com/office/powerpoint/2010/main" val="6537900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B50A59-D66A-BEEB-A75D-01778BAE0A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337" y="0"/>
            <a:ext cx="12125325" cy="6858000"/>
          </a:xfrm>
          <a:prstGeom prst="rect">
            <a:avLst/>
          </a:prstGeom>
        </p:spPr>
      </p:pic>
      <p:pic>
        <p:nvPicPr>
          <p:cNvPr id="4" name="Picture 3">
            <a:extLst>
              <a:ext uri="{FF2B5EF4-FFF2-40B4-BE49-F238E27FC236}">
                <a16:creationId xmlns:a16="http://schemas.microsoft.com/office/drawing/2014/main" id="{8FBA4592-E512-7088-B4B1-523E9DD6F4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46182" y="5457216"/>
            <a:ext cx="1665512" cy="1107570"/>
          </a:xfrm>
          <a:prstGeom prst="rect">
            <a:avLst/>
          </a:prstGeom>
        </p:spPr>
      </p:pic>
    </p:spTree>
    <p:extLst>
      <p:ext uri="{BB962C8B-B14F-4D97-AF65-F5344CB8AC3E}">
        <p14:creationId xmlns:p14="http://schemas.microsoft.com/office/powerpoint/2010/main" val="32516255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42EF042-5859-A1AA-0A41-72FF545633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17" y="0"/>
            <a:ext cx="12086283" cy="6858000"/>
          </a:xfrm>
          <a:prstGeom prst="rect">
            <a:avLst/>
          </a:prstGeom>
        </p:spPr>
      </p:pic>
    </p:spTree>
    <p:extLst>
      <p:ext uri="{BB962C8B-B14F-4D97-AF65-F5344CB8AC3E}">
        <p14:creationId xmlns:p14="http://schemas.microsoft.com/office/powerpoint/2010/main" val="27556654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44CDF2B8-2273-691E-FC82-9E7E8922133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B69FBE8-564A-FB9B-18BB-524E6238D881}"/>
              </a:ext>
            </a:extLst>
          </p:cNvPr>
          <p:cNvSpPr txBox="1"/>
          <p:nvPr/>
        </p:nvSpPr>
        <p:spPr>
          <a:xfrm>
            <a:off x="1789889" y="194553"/>
            <a:ext cx="7811311" cy="369332"/>
          </a:xfrm>
          <a:prstGeom prst="rect">
            <a:avLst/>
          </a:prstGeom>
          <a:solidFill>
            <a:schemeClr val="bg1"/>
          </a:solidFill>
        </p:spPr>
        <p:txBody>
          <a:bodyPr wrap="square" rtlCol="0">
            <a:spAutoFit/>
          </a:bodyPr>
          <a:lstStyle/>
          <a:p>
            <a:pPr algn="ctr"/>
            <a:r>
              <a:rPr lang="en-US" b="1" dirty="0"/>
              <a:t>O</a:t>
            </a:r>
            <a:r>
              <a:rPr lang="en-IN" b="1" dirty="0" err="1"/>
              <a:t>ver</a:t>
            </a:r>
            <a:r>
              <a:rPr lang="en-IN" b="1" dirty="0"/>
              <a:t> All Insights:-</a:t>
            </a:r>
          </a:p>
        </p:txBody>
      </p:sp>
      <p:sp>
        <p:nvSpPr>
          <p:cNvPr id="3" name="TextBox 2">
            <a:extLst>
              <a:ext uri="{FF2B5EF4-FFF2-40B4-BE49-F238E27FC236}">
                <a16:creationId xmlns:a16="http://schemas.microsoft.com/office/drawing/2014/main" id="{F5BC748A-D94E-78FE-30C0-F154C0AD5A69}"/>
              </a:ext>
            </a:extLst>
          </p:cNvPr>
          <p:cNvSpPr txBox="1"/>
          <p:nvPr/>
        </p:nvSpPr>
        <p:spPr>
          <a:xfrm>
            <a:off x="223736" y="817123"/>
            <a:ext cx="11614825" cy="5909310"/>
          </a:xfrm>
          <a:prstGeom prst="rect">
            <a:avLst/>
          </a:prstGeom>
          <a:solidFill>
            <a:schemeClr val="bg1"/>
          </a:solidFill>
        </p:spPr>
        <p:txBody>
          <a:bodyPr wrap="square" rtlCol="0">
            <a:spAutoFit/>
          </a:bodyPr>
          <a:lstStyle/>
          <a:p>
            <a:r>
              <a:rPr lang="en-US" b="1" u="sng" dirty="0"/>
              <a:t>Insights:- </a:t>
            </a:r>
          </a:p>
          <a:p>
            <a:pPr marL="285750" indent="-285750">
              <a:buFont typeface="Wingdings" panose="05000000000000000000" pitchFamily="2" charset="2"/>
              <a:buChar char="q"/>
            </a:pPr>
            <a:r>
              <a:rPr lang="en-US" b="1" u="sng" dirty="0"/>
              <a:t>Revenue Performance</a:t>
            </a:r>
          </a:p>
          <a:p>
            <a:pPr marL="285750" indent="-285750">
              <a:buFont typeface="Arial" panose="020B0604020202020204" pitchFamily="34" charset="0"/>
              <a:buChar char="•"/>
            </a:pPr>
            <a:r>
              <a:rPr lang="en-US" dirty="0"/>
              <a:t>The business generated </a:t>
            </a:r>
            <a:r>
              <a:rPr lang="en-US" b="1" dirty="0"/>
              <a:t>251.51M</a:t>
            </a:r>
            <a:r>
              <a:rPr lang="en-US" dirty="0"/>
              <a:t> in total revenue.</a:t>
            </a:r>
          </a:p>
          <a:p>
            <a:pPr marL="285750" indent="-285750">
              <a:buFont typeface="Arial" panose="020B0604020202020204" pitchFamily="34" charset="0"/>
              <a:buChar char="•"/>
            </a:pPr>
            <a:r>
              <a:rPr lang="en-US" dirty="0"/>
              <a:t>Strong revenue supported by ~99K transactions.</a:t>
            </a:r>
          </a:p>
          <a:p>
            <a:pPr marL="285750" indent="-285750">
              <a:buFont typeface="Arial" panose="020B0604020202020204" pitchFamily="34" charset="0"/>
              <a:buChar char="•"/>
            </a:pPr>
            <a:r>
              <a:rPr lang="en-US" dirty="0"/>
              <a:t>Average Order Value (AOV) is </a:t>
            </a:r>
            <a:r>
              <a:rPr lang="en-US" b="1" dirty="0"/>
              <a:t>2.35K</a:t>
            </a:r>
            <a:r>
              <a:rPr lang="en-US" dirty="0"/>
              <a:t>, indicating healthy spending per order.</a:t>
            </a:r>
          </a:p>
          <a:p>
            <a:pPr marL="285750" indent="-285750">
              <a:buFont typeface="Wingdings" panose="05000000000000000000" pitchFamily="2" charset="2"/>
              <a:buChar char="q"/>
            </a:pPr>
            <a:r>
              <a:rPr lang="en-US" b="1" u="sng" dirty="0"/>
              <a:t>Customer Segmentation Insights</a:t>
            </a:r>
          </a:p>
          <a:p>
            <a:pPr marL="285750" indent="-285750">
              <a:buFont typeface="Arial" panose="020B0604020202020204" pitchFamily="34" charset="0"/>
              <a:buChar char="•"/>
            </a:pPr>
            <a:r>
              <a:rPr lang="en-US" dirty="0"/>
              <a:t>Female customers contribute approximately </a:t>
            </a:r>
            <a:r>
              <a:rPr lang="en-US" b="1" dirty="0"/>
              <a:t>60% of total transactions</a:t>
            </a:r>
            <a:r>
              <a:rPr lang="en-US" dirty="0"/>
              <a:t>, making them the dominant segment.</a:t>
            </a:r>
          </a:p>
          <a:p>
            <a:pPr marL="285750" indent="-285750">
              <a:buFont typeface="Arial" panose="020B0604020202020204" pitchFamily="34" charset="0"/>
              <a:buChar char="•"/>
            </a:pPr>
            <a:r>
              <a:rPr lang="en-US" dirty="0"/>
              <a:t>Working-age customers (21–44 years) generate the highest purchase activity.</a:t>
            </a:r>
          </a:p>
          <a:p>
            <a:pPr marL="285750" indent="-285750">
              <a:buFont typeface="Arial" panose="020B0604020202020204" pitchFamily="34" charset="0"/>
              <a:buChar char="•"/>
            </a:pPr>
            <a:r>
              <a:rPr lang="en-US" dirty="0"/>
              <a:t>Adults and middle-aged customers drive overall business performance.</a:t>
            </a:r>
          </a:p>
          <a:p>
            <a:pPr marL="285750" indent="-285750">
              <a:buFont typeface="Wingdings" panose="05000000000000000000" pitchFamily="2" charset="2"/>
              <a:buChar char="q"/>
            </a:pPr>
            <a:r>
              <a:rPr lang="en-US" b="1" u="sng" dirty="0"/>
              <a:t>Category Insights</a:t>
            </a:r>
          </a:p>
          <a:p>
            <a:pPr marL="285750" indent="-285750">
              <a:buFont typeface="Arial" panose="020B0604020202020204" pitchFamily="34" charset="0"/>
              <a:buChar char="•"/>
            </a:pPr>
            <a:r>
              <a:rPr lang="en-US" b="1" dirty="0"/>
              <a:t>Clothing</a:t>
            </a:r>
            <a:r>
              <a:rPr lang="en-US" dirty="0"/>
              <a:t> is the highest-performing category in transaction volume.</a:t>
            </a:r>
          </a:p>
          <a:p>
            <a:pPr marL="285750" indent="-285750">
              <a:buFont typeface="Arial" panose="020B0604020202020204" pitchFamily="34" charset="0"/>
              <a:buChar char="•"/>
            </a:pPr>
            <a:r>
              <a:rPr lang="en-US" dirty="0"/>
              <a:t>Cosmetics and Food &amp; Beverage show strong mid-level demand.</a:t>
            </a:r>
          </a:p>
          <a:p>
            <a:pPr marL="285750" indent="-285750">
              <a:buFont typeface="Arial" panose="020B0604020202020204" pitchFamily="34" charset="0"/>
              <a:buChar char="•"/>
            </a:pPr>
            <a:r>
              <a:rPr lang="en-US" dirty="0"/>
              <a:t>Books and Technology have lower transaction frequency.</a:t>
            </a:r>
          </a:p>
          <a:p>
            <a:pPr marL="285750" indent="-285750">
              <a:buFont typeface="Arial" panose="020B0604020202020204" pitchFamily="34" charset="0"/>
              <a:buChar char="•"/>
            </a:pPr>
            <a:r>
              <a:rPr lang="en-US" dirty="0"/>
              <a:t>Customer demand is concentrated in fashion and lifestyle segments.</a:t>
            </a:r>
          </a:p>
          <a:p>
            <a:pPr marL="285750" indent="-285750">
              <a:buFont typeface="Wingdings" panose="05000000000000000000" pitchFamily="2" charset="2"/>
              <a:buChar char="q"/>
            </a:pPr>
            <a:r>
              <a:rPr lang="en-US" b="1" u="sng" dirty="0"/>
              <a:t>Payment Method Insights</a:t>
            </a:r>
          </a:p>
          <a:p>
            <a:pPr marL="285750" indent="-285750">
              <a:buFont typeface="Arial" panose="020B0604020202020204" pitchFamily="34" charset="0"/>
              <a:buChar char="•"/>
            </a:pPr>
            <a:r>
              <a:rPr lang="en-US" b="1" dirty="0"/>
              <a:t>Cash (45%)</a:t>
            </a:r>
            <a:r>
              <a:rPr lang="en-US" dirty="0"/>
              <a:t> is the most preferred payment method.</a:t>
            </a:r>
          </a:p>
          <a:p>
            <a:pPr marL="285750" indent="-285750">
              <a:buFont typeface="Arial" panose="020B0604020202020204" pitchFamily="34" charset="0"/>
              <a:buChar char="•"/>
            </a:pPr>
            <a:r>
              <a:rPr lang="en-US" dirty="0"/>
              <a:t>Credit Card usage is strong (35%), showing purchasing power.</a:t>
            </a:r>
          </a:p>
          <a:p>
            <a:pPr marL="285750" indent="-285750">
              <a:buFont typeface="Arial" panose="020B0604020202020204" pitchFamily="34" charset="0"/>
              <a:buChar char="•"/>
            </a:pPr>
            <a:r>
              <a:rPr lang="en-US" dirty="0"/>
              <a:t>Digital payments (Credit + Debit) exceed 50%, indicating growing digital adoption.</a:t>
            </a:r>
          </a:p>
          <a:p>
            <a:endParaRPr lang="en-US" dirty="0"/>
          </a:p>
          <a:p>
            <a:endParaRPr lang="en-US" dirty="0"/>
          </a:p>
          <a:p>
            <a:endParaRPr lang="en-IN" dirty="0"/>
          </a:p>
        </p:txBody>
      </p:sp>
      <p:pic>
        <p:nvPicPr>
          <p:cNvPr id="4" name="Picture 3">
            <a:extLst>
              <a:ext uri="{FF2B5EF4-FFF2-40B4-BE49-F238E27FC236}">
                <a16:creationId xmlns:a16="http://schemas.microsoft.com/office/drawing/2014/main" id="{68C01FA3-374C-9FF0-77F7-C4E6003D59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17932" y="10100"/>
            <a:ext cx="885217" cy="670836"/>
          </a:xfrm>
          <a:prstGeom prst="rect">
            <a:avLst/>
          </a:prstGeom>
        </p:spPr>
      </p:pic>
      <p:pic>
        <p:nvPicPr>
          <p:cNvPr id="5" name="Picture 4">
            <a:extLst>
              <a:ext uri="{FF2B5EF4-FFF2-40B4-BE49-F238E27FC236}">
                <a16:creationId xmlns:a16="http://schemas.microsoft.com/office/drawing/2014/main" id="{CFE9F666-5F67-6FB7-775B-2AD2B35BD2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88695" y="54218"/>
            <a:ext cx="1049866" cy="636286"/>
          </a:xfrm>
          <a:prstGeom prst="rect">
            <a:avLst/>
          </a:prstGeom>
        </p:spPr>
      </p:pic>
      <p:pic>
        <p:nvPicPr>
          <p:cNvPr id="6" name="Picture 5">
            <a:extLst>
              <a:ext uri="{FF2B5EF4-FFF2-40B4-BE49-F238E27FC236}">
                <a16:creationId xmlns:a16="http://schemas.microsoft.com/office/drawing/2014/main" id="{3DF844F1-4ADF-D8D4-F6BC-BEB7F003CE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2221" y="146287"/>
            <a:ext cx="680936" cy="670836"/>
          </a:xfrm>
          <a:prstGeom prst="rect">
            <a:avLst/>
          </a:prstGeom>
        </p:spPr>
      </p:pic>
      <p:pic>
        <p:nvPicPr>
          <p:cNvPr id="7" name="Picture 6">
            <a:extLst>
              <a:ext uri="{FF2B5EF4-FFF2-40B4-BE49-F238E27FC236}">
                <a16:creationId xmlns:a16="http://schemas.microsoft.com/office/drawing/2014/main" id="{B4F02086-CB9C-4950-EEC0-C706A916B6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046" y="112744"/>
            <a:ext cx="885217" cy="636286"/>
          </a:xfrm>
          <a:prstGeom prst="rect">
            <a:avLst/>
          </a:prstGeom>
        </p:spPr>
      </p:pic>
    </p:spTree>
    <p:extLst>
      <p:ext uri="{BB962C8B-B14F-4D97-AF65-F5344CB8AC3E}">
        <p14:creationId xmlns:p14="http://schemas.microsoft.com/office/powerpoint/2010/main" val="17100195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29FD60DD-375D-B4E9-B0FF-FA42637E59E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3CBDC5D-C471-F720-B6B6-D1134723DD81}"/>
              </a:ext>
            </a:extLst>
          </p:cNvPr>
          <p:cNvSpPr txBox="1"/>
          <p:nvPr/>
        </p:nvSpPr>
        <p:spPr>
          <a:xfrm>
            <a:off x="1789889" y="194553"/>
            <a:ext cx="7811311" cy="369332"/>
          </a:xfrm>
          <a:prstGeom prst="rect">
            <a:avLst/>
          </a:prstGeom>
          <a:solidFill>
            <a:schemeClr val="bg1"/>
          </a:solidFill>
        </p:spPr>
        <p:txBody>
          <a:bodyPr wrap="square" rtlCol="0">
            <a:spAutoFit/>
          </a:bodyPr>
          <a:lstStyle/>
          <a:p>
            <a:pPr algn="ctr"/>
            <a:r>
              <a:rPr lang="en-US" b="1" dirty="0"/>
              <a:t>O</a:t>
            </a:r>
            <a:r>
              <a:rPr lang="en-IN" b="1" dirty="0" err="1"/>
              <a:t>ver</a:t>
            </a:r>
            <a:r>
              <a:rPr lang="en-IN" b="1" dirty="0"/>
              <a:t> All Insights:-</a:t>
            </a:r>
          </a:p>
        </p:txBody>
      </p:sp>
      <p:sp>
        <p:nvSpPr>
          <p:cNvPr id="3" name="TextBox 2">
            <a:extLst>
              <a:ext uri="{FF2B5EF4-FFF2-40B4-BE49-F238E27FC236}">
                <a16:creationId xmlns:a16="http://schemas.microsoft.com/office/drawing/2014/main" id="{6309107A-6146-2394-A9FE-AB5BEEA90BB8}"/>
              </a:ext>
            </a:extLst>
          </p:cNvPr>
          <p:cNvSpPr txBox="1"/>
          <p:nvPr/>
        </p:nvSpPr>
        <p:spPr>
          <a:xfrm>
            <a:off x="223736" y="817123"/>
            <a:ext cx="11614825" cy="5078313"/>
          </a:xfrm>
          <a:prstGeom prst="rect">
            <a:avLst/>
          </a:prstGeom>
          <a:solidFill>
            <a:schemeClr val="bg1"/>
          </a:solidFill>
        </p:spPr>
        <p:txBody>
          <a:bodyPr wrap="square" rtlCol="0">
            <a:spAutoFit/>
          </a:bodyPr>
          <a:lstStyle/>
          <a:p>
            <a:pPr marL="285750" indent="-285750">
              <a:buFont typeface="Wingdings" panose="05000000000000000000" pitchFamily="2" charset="2"/>
              <a:buChar char="q"/>
            </a:pPr>
            <a:r>
              <a:rPr lang="en-US" b="1" u="sng" dirty="0"/>
              <a:t>Business Recommendations (suggestions):-</a:t>
            </a:r>
          </a:p>
          <a:p>
            <a:pPr marL="285750" indent="-285750">
              <a:buFont typeface="Arial" panose="020B0604020202020204" pitchFamily="34" charset="0"/>
              <a:buChar char="•"/>
            </a:pPr>
            <a:r>
              <a:rPr lang="en-US" u="sng" dirty="0"/>
              <a:t>Focus on High-Value Segments:-</a:t>
            </a:r>
          </a:p>
          <a:p>
            <a:pPr marL="285750" indent="-285750">
              <a:buFont typeface="Arial" panose="020B0604020202020204" pitchFamily="34" charset="0"/>
              <a:buChar char="•"/>
            </a:pPr>
            <a:r>
              <a:rPr lang="en-US" dirty="0"/>
              <a:t>       Target female and working-age customers with personalized campaigns.</a:t>
            </a:r>
          </a:p>
          <a:p>
            <a:pPr marL="285750" indent="-285750">
              <a:buFont typeface="Arial" panose="020B0604020202020204" pitchFamily="34" charset="0"/>
              <a:buChar char="•"/>
            </a:pPr>
            <a:r>
              <a:rPr lang="en-US" b="1" dirty="0"/>
              <a:t> </a:t>
            </a:r>
            <a:r>
              <a:rPr lang="en-US" u="sng" dirty="0"/>
              <a:t>Strengthen Top Categories:-</a:t>
            </a:r>
          </a:p>
          <a:p>
            <a:pPr marL="285750" indent="-285750">
              <a:buFont typeface="Arial" panose="020B0604020202020204" pitchFamily="34" charset="0"/>
              <a:buChar char="•"/>
            </a:pPr>
            <a:r>
              <a:rPr lang="en-US" dirty="0"/>
              <a:t>                    Expand Clothing inventory and introduce bundle offers.</a:t>
            </a:r>
          </a:p>
          <a:p>
            <a:pPr marL="285750" indent="-285750">
              <a:buFont typeface="Arial" panose="020B0604020202020204" pitchFamily="34" charset="0"/>
              <a:buChar char="•"/>
            </a:pPr>
            <a:r>
              <a:rPr lang="en-US" u="sng" dirty="0"/>
              <a:t>Improve Low-Performing Categories:-</a:t>
            </a:r>
          </a:p>
          <a:p>
            <a:pPr marL="285750" indent="-285750">
              <a:buFont typeface="Arial" panose="020B0604020202020204" pitchFamily="34" charset="0"/>
              <a:buChar char="•"/>
            </a:pPr>
            <a:r>
              <a:rPr lang="en-US" dirty="0"/>
              <a:t>                    Promote Books and Technology through discounts or combo deals.</a:t>
            </a:r>
          </a:p>
          <a:p>
            <a:pPr marL="285750" indent="-285750">
              <a:buFont typeface="Arial" panose="020B0604020202020204" pitchFamily="34" charset="0"/>
              <a:buChar char="•"/>
            </a:pPr>
            <a:r>
              <a:rPr lang="en-US" dirty="0"/>
              <a:t> </a:t>
            </a:r>
            <a:r>
              <a:rPr lang="en-US" u="sng" dirty="0"/>
              <a:t>Encourage Digital Payments:-</a:t>
            </a:r>
          </a:p>
          <a:p>
            <a:pPr marL="285750" indent="-285750">
              <a:buFont typeface="Arial" panose="020B0604020202020204" pitchFamily="34" charset="0"/>
              <a:buChar char="•"/>
            </a:pPr>
            <a:r>
              <a:rPr lang="en-US" dirty="0"/>
              <a:t>                    Offer cashback or rewards for card payments.</a:t>
            </a:r>
          </a:p>
          <a:p>
            <a:pPr marL="285750" indent="-285750">
              <a:buFont typeface="Arial" panose="020B0604020202020204" pitchFamily="34" charset="0"/>
              <a:buChar char="•"/>
            </a:pPr>
            <a:r>
              <a:rPr lang="en-US" dirty="0"/>
              <a:t>                     Reduce cash handling operational cost.</a:t>
            </a:r>
          </a:p>
          <a:p>
            <a:pPr marL="285750" indent="-285750">
              <a:buFont typeface="Arial" panose="020B0604020202020204" pitchFamily="34" charset="0"/>
              <a:buChar char="•"/>
            </a:pPr>
            <a:r>
              <a:rPr lang="en-US" u="sng" dirty="0"/>
              <a:t>Increase AOV:-</a:t>
            </a:r>
          </a:p>
          <a:p>
            <a:pPr marL="285750" indent="-285750">
              <a:buFont typeface="Arial" panose="020B0604020202020204" pitchFamily="34" charset="0"/>
              <a:buChar char="•"/>
            </a:pPr>
            <a:r>
              <a:rPr lang="en-US" dirty="0"/>
              <a:t>                    Introduce product bundling and cross-selling strategies.</a:t>
            </a:r>
          </a:p>
          <a:p>
            <a:endParaRPr lang="en-IN" dirty="0"/>
          </a:p>
          <a:p>
            <a:pPr marL="285750" indent="-285750">
              <a:buFont typeface="Wingdings" panose="05000000000000000000" pitchFamily="2" charset="2"/>
              <a:buChar char="q"/>
            </a:pPr>
            <a:r>
              <a:rPr lang="en-IN" b="1" u="sng" dirty="0">
                <a:solidFill>
                  <a:schemeClr val="accent1">
                    <a:lumMod val="50000"/>
                  </a:schemeClr>
                </a:solidFill>
              </a:rPr>
              <a:t>Conclusion:-</a:t>
            </a:r>
          </a:p>
          <a:p>
            <a:r>
              <a:rPr lang="en-US" b="1" dirty="0"/>
              <a:t>In conclusion, the analysis reveals strong revenue performance driven primarily by female and working-age customers. Clothing emerges as the dominant category, and although cash remains the most preferred payment method, digital adoption is significant. By focusing on high-performing segments and optimizing underperforming categories, the business can further enhance profitability and customer engagement.</a:t>
            </a:r>
            <a:endParaRPr lang="en-IN" b="1" dirty="0"/>
          </a:p>
        </p:txBody>
      </p:sp>
      <p:pic>
        <p:nvPicPr>
          <p:cNvPr id="4" name="Picture 3">
            <a:extLst>
              <a:ext uri="{FF2B5EF4-FFF2-40B4-BE49-F238E27FC236}">
                <a16:creationId xmlns:a16="http://schemas.microsoft.com/office/drawing/2014/main" id="{90DC3888-65CA-8FE3-E379-20CC9F1701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37386" y="19668"/>
            <a:ext cx="758759" cy="544217"/>
          </a:xfrm>
          <a:prstGeom prst="rect">
            <a:avLst/>
          </a:prstGeom>
        </p:spPr>
      </p:pic>
      <p:pic>
        <p:nvPicPr>
          <p:cNvPr id="5" name="Picture 4">
            <a:extLst>
              <a:ext uri="{FF2B5EF4-FFF2-40B4-BE49-F238E27FC236}">
                <a16:creationId xmlns:a16="http://schemas.microsoft.com/office/drawing/2014/main" id="{A5C5CAA1-BCC5-FBE4-C581-A349983820A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19881" y="44650"/>
            <a:ext cx="1049866" cy="636286"/>
          </a:xfrm>
          <a:prstGeom prst="rect">
            <a:avLst/>
          </a:prstGeom>
        </p:spPr>
      </p:pic>
      <p:pic>
        <p:nvPicPr>
          <p:cNvPr id="6" name="Picture 5">
            <a:extLst>
              <a:ext uri="{FF2B5EF4-FFF2-40B4-BE49-F238E27FC236}">
                <a16:creationId xmlns:a16="http://schemas.microsoft.com/office/drawing/2014/main" id="{13A38761-5DCE-0062-B6D1-B621B251A0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873" y="146287"/>
            <a:ext cx="758759" cy="544217"/>
          </a:xfrm>
          <a:prstGeom prst="rect">
            <a:avLst/>
          </a:prstGeom>
        </p:spPr>
      </p:pic>
      <p:pic>
        <p:nvPicPr>
          <p:cNvPr id="7" name="Picture 6">
            <a:extLst>
              <a:ext uri="{FF2B5EF4-FFF2-40B4-BE49-F238E27FC236}">
                <a16:creationId xmlns:a16="http://schemas.microsoft.com/office/drawing/2014/main" id="{759095BE-69F5-F786-97B1-25A55D18552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1632" y="19668"/>
            <a:ext cx="758759" cy="636286"/>
          </a:xfrm>
          <a:prstGeom prst="rect">
            <a:avLst/>
          </a:prstGeom>
        </p:spPr>
      </p:pic>
    </p:spTree>
    <p:extLst>
      <p:ext uri="{BB962C8B-B14F-4D97-AF65-F5344CB8AC3E}">
        <p14:creationId xmlns:p14="http://schemas.microsoft.com/office/powerpoint/2010/main" val="26336553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489</TotalTime>
  <Words>1641</Words>
  <Application>Microsoft Office PowerPoint</Application>
  <PresentationFormat>Widescreen</PresentationFormat>
  <Paragraphs>185</Paragraphs>
  <Slides>21</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Chowdesh P</dc:creator>
  <cp:lastModifiedBy>Chowdesh P</cp:lastModifiedBy>
  <cp:revision>4</cp:revision>
  <dcterms:created xsi:type="dcterms:W3CDTF">2026-02-26T03:19:33Z</dcterms:created>
  <dcterms:modified xsi:type="dcterms:W3CDTF">2026-02-26T11:29:04Z</dcterms:modified>
</cp:coreProperties>
</file>